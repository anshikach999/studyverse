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 id="263" r:id="rId9"/>
    <p:sldId id="264" r:id="rId10"/>
    <p:sldId id="265" r:id="rId11"/>
    <p:sldId id="266" r:id="rId12"/>
    <p:sldId id="279"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5" r:id="rId40"/>
    <p:sldId id="296" r:id="rId41"/>
    <p:sldId id="297" r:id="rId42"/>
    <p:sldId id="298" r:id="rId43"/>
    <p:sldId id="299" r:id="rId44"/>
    <p:sldId id="300" r:id="rId45"/>
    <p:sldId id="301"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AC0E941-C3A0-4AB9-A192-4333E6807B6F}"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3570540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C0E941-C3A0-4AB9-A192-4333E6807B6F}"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869387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C0E941-C3A0-4AB9-A192-4333E6807B6F}"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4171308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AC0E941-C3A0-4AB9-A192-4333E6807B6F}"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89968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AC0E941-C3A0-4AB9-A192-4333E6807B6F}" type="datetimeFigureOut">
              <a:rPr lang="en-IN" smtClean="0"/>
              <a:t>11-04-2024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2086352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AC0E941-C3A0-4AB9-A192-4333E6807B6F}" type="datetimeFigureOut">
              <a:rPr lang="en-IN" smtClean="0"/>
              <a:t>11-04-2024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247736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C0E941-C3A0-4AB9-A192-4333E6807B6F}" type="datetimeFigureOut">
              <a:rPr lang="en-IN" smtClean="0"/>
              <a:t>11-04-2024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2273698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C0E941-C3A0-4AB9-A192-4333E6807B6F}"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3172954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C0E941-C3A0-4AB9-A192-4333E6807B6F}"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401472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C0E941-C3A0-4AB9-A192-4333E6807B6F}"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3495377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C0E941-C3A0-4AB9-A192-4333E6807B6F}"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5D12CC-12B6-4807-92B4-E92493A99C72}" type="slidenum">
              <a:rPr lang="en-IN" smtClean="0"/>
              <a:t>‹#›</a:t>
            </a:fld>
            <a:endParaRPr lang="en-IN"/>
          </a:p>
        </p:txBody>
      </p:sp>
    </p:spTree>
    <p:extLst>
      <p:ext uri="{BB962C8B-B14F-4D97-AF65-F5344CB8AC3E}">
        <p14:creationId xmlns:p14="http://schemas.microsoft.com/office/powerpoint/2010/main" val="160046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C0E941-C3A0-4AB9-A192-4333E6807B6F}" type="datetimeFigureOut">
              <a:rPr lang="en-IN" smtClean="0"/>
              <a:t>11-04-2024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5D12CC-12B6-4807-92B4-E92493A99C72}" type="slidenum">
              <a:rPr lang="en-IN" smtClean="0"/>
              <a:t>‹#›</a:t>
            </a:fld>
            <a:endParaRPr lang="en-IN"/>
          </a:p>
        </p:txBody>
      </p:sp>
    </p:spTree>
    <p:extLst>
      <p:ext uri="{BB962C8B-B14F-4D97-AF65-F5344CB8AC3E}">
        <p14:creationId xmlns:p14="http://schemas.microsoft.com/office/powerpoint/2010/main" val="2996964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Lec29</a:t>
            </a:r>
            <a:endParaRPr lang="en-IN" dirty="0"/>
          </a:p>
        </p:txBody>
      </p:sp>
      <p:sp>
        <p:nvSpPr>
          <p:cNvPr id="3" name="Subtitle 2"/>
          <p:cNvSpPr>
            <a:spLocks noGrp="1"/>
          </p:cNvSpPr>
          <p:nvPr>
            <p:ph type="subTitle" idx="1"/>
          </p:nvPr>
        </p:nvSpPr>
        <p:spPr/>
        <p:txBody>
          <a:bodyPr/>
          <a:lstStyle/>
          <a:p>
            <a:r>
              <a:rPr lang="en-GB" dirty="0" smtClean="0"/>
              <a:t>Graph Theory</a:t>
            </a:r>
            <a:endParaRPr lang="en-IN" dirty="0"/>
          </a:p>
        </p:txBody>
      </p:sp>
    </p:spTree>
    <p:extLst>
      <p:ext uri="{BB962C8B-B14F-4D97-AF65-F5344CB8AC3E}">
        <p14:creationId xmlns:p14="http://schemas.microsoft.com/office/powerpoint/2010/main" val="167447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Graph</a:t>
            </a:r>
            <a:endParaRPr lang="en-IN" dirty="0"/>
          </a:p>
        </p:txBody>
      </p:sp>
      <p:sp>
        <p:nvSpPr>
          <p:cNvPr id="3" name="Content Placeholder 2"/>
          <p:cNvSpPr>
            <a:spLocks noGrp="1"/>
          </p:cNvSpPr>
          <p:nvPr>
            <p:ph idx="1"/>
          </p:nvPr>
        </p:nvSpPr>
        <p:spPr/>
        <p:txBody>
          <a:bodyPr>
            <a:normAutofit fontScale="92500" lnSpcReduction="10000"/>
          </a:bodyPr>
          <a:lstStyle/>
          <a:p>
            <a:r>
              <a:rPr lang="en-GB" sz="2400" dirty="0" smtClean="0"/>
              <a:t>A graph </a:t>
            </a:r>
            <a:r>
              <a:rPr lang="en-GB" sz="2400" dirty="0" smtClean="0">
                <a:solidFill>
                  <a:srgbClr val="FF0000"/>
                </a:solidFill>
              </a:rPr>
              <a:t>G = (V, E) </a:t>
            </a:r>
            <a:r>
              <a:rPr lang="en-GB" sz="2400" dirty="0" smtClean="0"/>
              <a:t>consists of V , a nonempty set of vertices (or nodes) and E, a set of edges.</a:t>
            </a:r>
          </a:p>
          <a:p>
            <a:r>
              <a:rPr lang="en-GB" sz="2400" dirty="0" smtClean="0"/>
              <a:t>Each </a:t>
            </a:r>
            <a:r>
              <a:rPr lang="en-GB" sz="2400" dirty="0" smtClean="0">
                <a:solidFill>
                  <a:srgbClr val="FF0000"/>
                </a:solidFill>
              </a:rPr>
              <a:t>edge</a:t>
            </a:r>
            <a:r>
              <a:rPr lang="en-GB" sz="2400" dirty="0" smtClean="0"/>
              <a:t> has either one or two vertices associated with it, called its endpoints. An edge is said to connect its endpoints.</a:t>
            </a:r>
          </a:p>
          <a:p>
            <a:r>
              <a:rPr lang="en-GB" sz="2400" dirty="0" smtClean="0"/>
              <a:t>The set of vertices V of a graph G may be infinite. </a:t>
            </a:r>
          </a:p>
          <a:p>
            <a:r>
              <a:rPr lang="en-GB" sz="2400" dirty="0" smtClean="0"/>
              <a:t>A graph with an infinite vertex set or an infinite number of edges is called an </a:t>
            </a:r>
            <a:r>
              <a:rPr lang="en-GB" sz="2400" dirty="0" smtClean="0">
                <a:solidFill>
                  <a:srgbClr val="FF0000"/>
                </a:solidFill>
              </a:rPr>
              <a:t>infinite graph</a:t>
            </a:r>
            <a:r>
              <a:rPr lang="en-GB" sz="2400" dirty="0" smtClean="0"/>
              <a:t>.</a:t>
            </a:r>
          </a:p>
          <a:p>
            <a:r>
              <a:rPr lang="en-GB" sz="2400" dirty="0" smtClean="0"/>
              <a:t>A graph with finite vertex set and a finite edge set is called a </a:t>
            </a:r>
            <a:r>
              <a:rPr lang="en-GB" sz="2400" dirty="0" smtClean="0">
                <a:solidFill>
                  <a:srgbClr val="FF0000"/>
                </a:solidFill>
              </a:rPr>
              <a:t>finite graph.</a:t>
            </a:r>
          </a:p>
          <a:p>
            <a:r>
              <a:rPr lang="en-GB" sz="2400" dirty="0" smtClean="0"/>
              <a:t>Example:</a:t>
            </a:r>
          </a:p>
          <a:p>
            <a:pPr lvl="1"/>
            <a:r>
              <a:rPr lang="en-GB" sz="2000" dirty="0" smtClean="0"/>
              <a:t>Airline Scheduling</a:t>
            </a:r>
          </a:p>
          <a:p>
            <a:pPr lvl="1"/>
            <a:r>
              <a:rPr lang="en-GB" sz="2000" dirty="0" smtClean="0"/>
              <a:t>Search Engine Algorithms</a:t>
            </a:r>
          </a:p>
          <a:p>
            <a:pPr lvl="1"/>
            <a:r>
              <a:rPr lang="en-GB" sz="2000" dirty="0" smtClean="0"/>
              <a:t>In showing flow of computation in complex problems.</a:t>
            </a:r>
          </a:p>
          <a:p>
            <a:endParaRPr lang="en-GB" sz="2400" dirty="0" smtClean="0"/>
          </a:p>
          <a:p>
            <a:endParaRPr lang="en-IN" dirty="0"/>
          </a:p>
        </p:txBody>
      </p:sp>
    </p:spTree>
    <p:extLst>
      <p:ext uri="{BB962C8B-B14F-4D97-AF65-F5344CB8AC3E}">
        <p14:creationId xmlns:p14="http://schemas.microsoft.com/office/powerpoint/2010/main" val="4160692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IN" dirty="0"/>
          </a:p>
        </p:txBody>
      </p:sp>
      <p:sp>
        <p:nvSpPr>
          <p:cNvPr id="3" name="Content Placeholder 2"/>
          <p:cNvSpPr>
            <a:spLocks noGrp="1"/>
          </p:cNvSpPr>
          <p:nvPr>
            <p:ph idx="1"/>
          </p:nvPr>
        </p:nvSpPr>
        <p:spPr/>
        <p:txBody>
          <a:bodyPr/>
          <a:lstStyle/>
          <a:p>
            <a:r>
              <a:rPr lang="en-GB" dirty="0" smtClean="0"/>
              <a:t>A network is made up of data </a:t>
            </a:r>
            <a:r>
              <a:rPr lang="en-GB" dirty="0" err="1" smtClean="0"/>
              <a:t>centers</a:t>
            </a:r>
            <a:r>
              <a:rPr lang="en-GB" dirty="0" smtClean="0"/>
              <a:t> and communication links between computers. </a:t>
            </a:r>
          </a:p>
          <a:p>
            <a:r>
              <a:rPr lang="en-GB" dirty="0" smtClean="0"/>
              <a:t>We can represent the location of each data </a:t>
            </a:r>
            <a:r>
              <a:rPr lang="en-GB" dirty="0" err="1" smtClean="0"/>
              <a:t>center</a:t>
            </a:r>
            <a:r>
              <a:rPr lang="en-GB" dirty="0" smtClean="0"/>
              <a:t> by a point and each communications link by a line segment.</a:t>
            </a:r>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4365104"/>
            <a:ext cx="5001323" cy="1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0658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Properties</a:t>
            </a:r>
            <a:endParaRPr lang="en-IN" dirty="0"/>
          </a:p>
        </p:txBody>
      </p:sp>
      <p:sp>
        <p:nvSpPr>
          <p:cNvPr id="3" name="Content Placeholder 2"/>
          <p:cNvSpPr>
            <a:spLocks noGrp="1"/>
          </p:cNvSpPr>
          <p:nvPr>
            <p:ph idx="1"/>
          </p:nvPr>
        </p:nvSpPr>
        <p:spPr/>
        <p:txBody>
          <a:bodyPr>
            <a:normAutofit fontScale="85000" lnSpcReduction="10000"/>
          </a:bodyPr>
          <a:lstStyle/>
          <a:p>
            <a:r>
              <a:rPr lang="en-GB" dirty="0" smtClean="0"/>
              <a:t>If two vertices in a graph are connected by more than one edges, then these edges are called multiple edges.</a:t>
            </a:r>
          </a:p>
          <a:p>
            <a:r>
              <a:rPr lang="en-GB" dirty="0" smtClean="0"/>
              <a:t>If one vertex is connected by itself, then the edge joining the vertex to itself is called loop.</a:t>
            </a:r>
          </a:p>
          <a:p>
            <a:r>
              <a:rPr lang="en-GB" dirty="0" smtClean="0">
                <a:solidFill>
                  <a:srgbClr val="FF0000"/>
                </a:solidFill>
              </a:rPr>
              <a:t>Simple Graph: </a:t>
            </a:r>
            <a:r>
              <a:rPr lang="en-GB" dirty="0" smtClean="0"/>
              <a:t>A graph which has no multiple edges and no loop is called simple graph.</a:t>
            </a:r>
          </a:p>
          <a:p>
            <a:r>
              <a:rPr lang="en-GB" dirty="0" smtClean="0">
                <a:solidFill>
                  <a:srgbClr val="FF0000"/>
                </a:solidFill>
              </a:rPr>
              <a:t>Multi-graph:</a:t>
            </a:r>
            <a:r>
              <a:rPr lang="en-GB" dirty="0" smtClean="0"/>
              <a:t> A graph with multiple edges is called multi-graph.</a:t>
            </a:r>
          </a:p>
          <a:p>
            <a:r>
              <a:rPr lang="en-GB" dirty="0" smtClean="0">
                <a:solidFill>
                  <a:srgbClr val="FF0000"/>
                </a:solidFill>
              </a:rPr>
              <a:t>Pseudo-graph:</a:t>
            </a:r>
            <a:r>
              <a:rPr lang="en-GB" dirty="0" smtClean="0"/>
              <a:t> </a:t>
            </a:r>
            <a:r>
              <a:rPr lang="en-GB" dirty="0" smtClean="0"/>
              <a:t>A graph with loops , and possibly multiple edges connecting the same pair of vertices or a vertex to itself, is called pseudo-graph.</a:t>
            </a:r>
            <a:endParaRPr lang="en-IN" dirty="0"/>
          </a:p>
        </p:txBody>
      </p:sp>
    </p:spTree>
    <p:extLst>
      <p:ext uri="{BB962C8B-B14F-4D97-AF65-F5344CB8AC3E}">
        <p14:creationId xmlns:p14="http://schemas.microsoft.com/office/powerpoint/2010/main" val="1456578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smtClean="0">
                <a:solidFill>
                  <a:srgbClr val="FF0000"/>
                </a:solidFill>
              </a:rPr>
              <a:t>Figure 1</a:t>
            </a:r>
            <a:r>
              <a:rPr lang="en-GB" sz="2400" dirty="0" smtClean="0"/>
              <a:t> is Simple Graph, </a:t>
            </a:r>
            <a:r>
              <a:rPr lang="en-GB" sz="2400" dirty="0" smtClean="0">
                <a:solidFill>
                  <a:srgbClr val="FF0000"/>
                </a:solidFill>
              </a:rPr>
              <a:t>Figure 2</a:t>
            </a:r>
            <a:r>
              <a:rPr lang="en-GB" sz="2400" dirty="0" smtClean="0"/>
              <a:t> is multi-graph, and </a:t>
            </a:r>
            <a:r>
              <a:rPr lang="en-GB" sz="2400" dirty="0" smtClean="0">
                <a:solidFill>
                  <a:srgbClr val="FF0000"/>
                </a:solidFill>
              </a:rPr>
              <a:t>Figure 3</a:t>
            </a:r>
            <a:r>
              <a:rPr lang="en-GB" sz="2400" dirty="0" smtClean="0"/>
              <a:t> is pseudo-graph.</a:t>
            </a:r>
            <a:endParaRPr lang="en-IN" sz="2400" dirty="0"/>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16831" y="1196752"/>
            <a:ext cx="5001323" cy="1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005255"/>
            <a:ext cx="6345237"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4710230"/>
            <a:ext cx="534352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1658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2034"/>
          </a:xfrm>
        </p:spPr>
        <p:txBody>
          <a:bodyPr>
            <a:normAutofit fontScale="90000"/>
          </a:bodyPr>
          <a:lstStyle/>
          <a:p>
            <a:r>
              <a:rPr lang="en-GB" dirty="0" smtClean="0"/>
              <a:t> </a:t>
            </a:r>
            <a:endParaRPr lang="en-IN" dirty="0"/>
          </a:p>
        </p:txBody>
      </p:sp>
      <p:sp>
        <p:nvSpPr>
          <p:cNvPr id="3" name="Content Placeholder 2"/>
          <p:cNvSpPr>
            <a:spLocks noGrp="1"/>
          </p:cNvSpPr>
          <p:nvPr>
            <p:ph idx="1"/>
          </p:nvPr>
        </p:nvSpPr>
        <p:spPr>
          <a:xfrm>
            <a:off x="457200" y="548680"/>
            <a:ext cx="8229600" cy="5577483"/>
          </a:xfrm>
        </p:spPr>
        <p:txBody>
          <a:bodyPr>
            <a:normAutofit/>
          </a:bodyPr>
          <a:lstStyle/>
          <a:p>
            <a:r>
              <a:rPr lang="en-GB" dirty="0" smtClean="0"/>
              <a:t>A </a:t>
            </a:r>
            <a:r>
              <a:rPr lang="en-GB" dirty="0" smtClean="0">
                <a:solidFill>
                  <a:srgbClr val="FF0000"/>
                </a:solidFill>
              </a:rPr>
              <a:t>directed graph </a:t>
            </a:r>
            <a:r>
              <a:rPr lang="en-GB" dirty="0" smtClean="0"/>
              <a:t>(or digraph) (V, E) consists of a nonempty set of vertices V and a set of directed edges E. </a:t>
            </a:r>
          </a:p>
          <a:p>
            <a:r>
              <a:rPr lang="en-GB" dirty="0" smtClean="0"/>
              <a:t>Each directed edge is associated with an ordered pair of vertices.</a:t>
            </a:r>
          </a:p>
          <a:p>
            <a:r>
              <a:rPr lang="en-GB" dirty="0" smtClean="0"/>
              <a:t>The directed edge associated with the ordered pair (u, v) is said to start at u and end at v.</a:t>
            </a:r>
          </a:p>
          <a:p>
            <a:endParaRPr lang="en-GB" sz="2400" dirty="0"/>
          </a:p>
          <a:p>
            <a:endParaRPr lang="en-GB" sz="2400" dirty="0" smtClean="0"/>
          </a:p>
          <a:p>
            <a:endParaRPr lang="en-GB" sz="2400" dirty="0" smtClean="0"/>
          </a:p>
          <a:p>
            <a:endParaRPr lang="en-GB" sz="2400" dirty="0" smtClean="0">
              <a:solidFill>
                <a:srgbClr val="FF0000"/>
              </a:solidFill>
            </a:endParaRPr>
          </a:p>
          <a:p>
            <a:endParaRPr lang="en-GB" sz="2400" dirty="0">
              <a:solidFill>
                <a:srgbClr val="FF0000"/>
              </a:solidFill>
            </a:endParaRPr>
          </a:p>
          <a:p>
            <a:pPr marL="0" indent="0">
              <a:buNone/>
            </a:pPr>
            <a:endParaRPr lang="en-GB" sz="2400" dirty="0">
              <a:solidFill>
                <a:srgbClr val="FF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4581128"/>
            <a:ext cx="2514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8424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GB" dirty="0" smtClean="0"/>
              <a:t> </a:t>
            </a:r>
            <a:endParaRPr lang="en-IN" dirty="0"/>
          </a:p>
        </p:txBody>
      </p:sp>
      <p:sp>
        <p:nvSpPr>
          <p:cNvPr id="3" name="Content Placeholder 2"/>
          <p:cNvSpPr>
            <a:spLocks noGrp="1"/>
          </p:cNvSpPr>
          <p:nvPr>
            <p:ph idx="1"/>
          </p:nvPr>
        </p:nvSpPr>
        <p:spPr>
          <a:xfrm>
            <a:off x="457200" y="764704"/>
            <a:ext cx="8229600" cy="5361459"/>
          </a:xfrm>
        </p:spPr>
        <p:txBody>
          <a:bodyPr>
            <a:normAutofit fontScale="85000" lnSpcReduction="20000"/>
          </a:bodyPr>
          <a:lstStyle/>
          <a:p>
            <a:r>
              <a:rPr lang="en-GB" dirty="0" smtClean="0">
                <a:solidFill>
                  <a:srgbClr val="FF0000"/>
                </a:solidFill>
              </a:rPr>
              <a:t>Undirected Graphs</a:t>
            </a:r>
            <a:r>
              <a:rPr lang="en-GB" dirty="0" smtClean="0"/>
              <a:t>: Graphs in which the edges are undirected.</a:t>
            </a:r>
          </a:p>
          <a:p>
            <a:r>
              <a:rPr lang="en-GB" dirty="0" smtClean="0"/>
              <a:t>A directed graph with no multiple directed edges and loops is called </a:t>
            </a:r>
            <a:r>
              <a:rPr lang="en-GB" dirty="0" smtClean="0">
                <a:solidFill>
                  <a:srgbClr val="FF0000"/>
                </a:solidFill>
              </a:rPr>
              <a:t>simple directed graph.</a:t>
            </a:r>
          </a:p>
          <a:p>
            <a:r>
              <a:rPr lang="en-GB" sz="2900" dirty="0" smtClean="0"/>
              <a:t>A directed graph with multiple directed edges and loops is called </a:t>
            </a:r>
            <a:r>
              <a:rPr lang="en-GB" sz="2900" dirty="0" smtClean="0">
                <a:solidFill>
                  <a:srgbClr val="FF0000"/>
                </a:solidFill>
              </a:rPr>
              <a:t>directed multi-graph.</a:t>
            </a:r>
            <a:r>
              <a:rPr lang="en-GB" dirty="0" smtClean="0">
                <a:solidFill>
                  <a:srgbClr val="FF0000"/>
                </a:solidFill>
              </a:rPr>
              <a:t/>
            </a:r>
            <a:br>
              <a:rPr lang="en-GB" dirty="0" smtClean="0">
                <a:solidFill>
                  <a:srgbClr val="FF0000"/>
                </a:solidFill>
              </a:rPr>
            </a:br>
            <a:endParaRPr lang="en-IN" dirty="0" smtClean="0">
              <a:solidFill>
                <a:srgbClr val="FF0000"/>
              </a:solidFill>
            </a:endParaRPr>
          </a:p>
          <a:p>
            <a:endParaRPr lang="en-GB" dirty="0" smtClean="0"/>
          </a:p>
          <a:p>
            <a:endParaRPr lang="en-GB" dirty="0" smtClean="0"/>
          </a:p>
          <a:p>
            <a:endParaRPr lang="en-GB" dirty="0"/>
          </a:p>
          <a:p>
            <a:endParaRPr lang="en-GB" dirty="0" smtClean="0"/>
          </a:p>
          <a:p>
            <a:r>
              <a:rPr lang="en-GB" dirty="0" smtClean="0"/>
              <a:t>A graph with both directed and undirected edges is called a </a:t>
            </a:r>
            <a:r>
              <a:rPr lang="en-GB" dirty="0" smtClean="0">
                <a:solidFill>
                  <a:srgbClr val="FF0000"/>
                </a:solidFill>
              </a:rPr>
              <a:t>mixed graph.</a:t>
            </a:r>
            <a:endParaRPr lang="en-IN" dirty="0">
              <a:solidFill>
                <a:srgbClr val="FF0000"/>
              </a:solidFill>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5" y="2954380"/>
            <a:ext cx="452437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9083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smtClean="0"/>
              <a:t>Graph Terminology and Special Types of Graphs</a:t>
            </a:r>
            <a:endParaRPr lang="en-IN" sz="3200" dirty="0"/>
          </a:p>
        </p:txBody>
      </p:sp>
      <p:sp>
        <p:nvSpPr>
          <p:cNvPr id="3" name="Content Placeholder 2"/>
          <p:cNvSpPr>
            <a:spLocks noGrp="1"/>
          </p:cNvSpPr>
          <p:nvPr>
            <p:ph idx="1"/>
          </p:nvPr>
        </p:nvSpPr>
        <p:spPr/>
        <p:txBody>
          <a:bodyPr>
            <a:normAutofit fontScale="85000" lnSpcReduction="20000"/>
          </a:bodyPr>
          <a:lstStyle/>
          <a:p>
            <a:pPr marL="0" indent="0">
              <a:buNone/>
            </a:pPr>
            <a:r>
              <a:rPr lang="en-GB" dirty="0" smtClean="0">
                <a:solidFill>
                  <a:schemeClr val="accent1"/>
                </a:solidFill>
              </a:rPr>
              <a:t>Terminology for undirected graphs:</a:t>
            </a:r>
          </a:p>
          <a:p>
            <a:r>
              <a:rPr lang="en-GB" dirty="0" smtClean="0"/>
              <a:t>Two vertices u and v in an undirected graph G are called </a:t>
            </a:r>
            <a:r>
              <a:rPr lang="en-GB" dirty="0" smtClean="0">
                <a:solidFill>
                  <a:srgbClr val="FF0000"/>
                </a:solidFill>
              </a:rPr>
              <a:t>adjacent (or neighbours) </a:t>
            </a:r>
            <a:r>
              <a:rPr lang="en-GB" dirty="0" smtClean="0"/>
              <a:t>in G if u and v are endpoints of an edge e of G.</a:t>
            </a:r>
          </a:p>
          <a:p>
            <a:r>
              <a:rPr lang="en-GB" dirty="0" smtClean="0"/>
              <a:t>Such an edge e is called </a:t>
            </a:r>
            <a:r>
              <a:rPr lang="en-GB" dirty="0" smtClean="0">
                <a:solidFill>
                  <a:srgbClr val="FF0000"/>
                </a:solidFill>
              </a:rPr>
              <a:t>incident </a:t>
            </a:r>
            <a:r>
              <a:rPr lang="en-GB" dirty="0" smtClean="0"/>
              <a:t>with the vertices u and v.</a:t>
            </a:r>
          </a:p>
          <a:p>
            <a:r>
              <a:rPr lang="en-GB" dirty="0" smtClean="0"/>
              <a:t>The set of all neighbours of a vertex v of G = (V, E), denoted by N(v), is called the </a:t>
            </a:r>
            <a:r>
              <a:rPr lang="en-GB" dirty="0" smtClean="0">
                <a:solidFill>
                  <a:srgbClr val="FF0000"/>
                </a:solidFill>
              </a:rPr>
              <a:t>neighbourhood of v</a:t>
            </a:r>
            <a:r>
              <a:rPr lang="en-GB" dirty="0" smtClean="0"/>
              <a:t>.</a:t>
            </a:r>
          </a:p>
          <a:p>
            <a:r>
              <a:rPr lang="en-GB" dirty="0" smtClean="0"/>
              <a:t>The </a:t>
            </a:r>
            <a:r>
              <a:rPr lang="en-GB" dirty="0" smtClean="0">
                <a:solidFill>
                  <a:srgbClr val="FF0000"/>
                </a:solidFill>
              </a:rPr>
              <a:t>degree of a vertex </a:t>
            </a:r>
            <a:r>
              <a:rPr lang="en-GB" dirty="0" smtClean="0"/>
              <a:t>in an undirected graph is the number of edges incident with it, except that a loop at a vertex contributes twice to the degree of that vertex. The degree of the vertex v is denoted by </a:t>
            </a:r>
            <a:r>
              <a:rPr lang="en-GB" dirty="0" err="1" smtClean="0">
                <a:solidFill>
                  <a:srgbClr val="FF0000"/>
                </a:solidFill>
              </a:rPr>
              <a:t>deg</a:t>
            </a:r>
            <a:r>
              <a:rPr lang="en-GB" dirty="0" smtClean="0">
                <a:solidFill>
                  <a:srgbClr val="FF0000"/>
                </a:solidFill>
              </a:rPr>
              <a:t>(v)</a:t>
            </a:r>
            <a:r>
              <a:rPr lang="en-GB" dirty="0" smtClean="0"/>
              <a:t>.</a:t>
            </a:r>
            <a:endParaRPr lang="en-IN" dirty="0"/>
          </a:p>
        </p:txBody>
      </p:sp>
    </p:spTree>
    <p:extLst>
      <p:ext uri="{BB962C8B-B14F-4D97-AF65-F5344CB8AC3E}">
        <p14:creationId xmlns:p14="http://schemas.microsoft.com/office/powerpoint/2010/main" val="3915225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sz="3200" dirty="0" smtClean="0"/>
              <a:t>Examples</a:t>
            </a:r>
            <a:endParaRPr lang="en-IN" sz="3200"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688" y="1124744"/>
            <a:ext cx="5763429" cy="1800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475656" y="3068960"/>
            <a:ext cx="6336704" cy="1200329"/>
          </a:xfrm>
          <a:prstGeom prst="rect">
            <a:avLst/>
          </a:prstGeom>
        </p:spPr>
        <p:txBody>
          <a:bodyPr wrap="square">
            <a:spAutoFit/>
          </a:bodyPr>
          <a:lstStyle/>
          <a:p>
            <a:r>
              <a:rPr lang="en-IN" dirty="0" smtClean="0"/>
              <a:t>In graph G, </a:t>
            </a:r>
            <a:r>
              <a:rPr lang="en-IN" dirty="0" err="1" smtClean="0"/>
              <a:t>deg</a:t>
            </a:r>
            <a:r>
              <a:rPr lang="en-IN" dirty="0" smtClean="0"/>
              <a:t>(a) = 2, </a:t>
            </a:r>
            <a:r>
              <a:rPr lang="en-IN" dirty="0" err="1" smtClean="0"/>
              <a:t>deg</a:t>
            </a:r>
            <a:r>
              <a:rPr lang="en-IN" dirty="0" smtClean="0"/>
              <a:t>(b) = </a:t>
            </a:r>
            <a:r>
              <a:rPr lang="en-IN" dirty="0" err="1" smtClean="0"/>
              <a:t>deg</a:t>
            </a:r>
            <a:r>
              <a:rPr lang="en-IN" dirty="0" smtClean="0"/>
              <a:t>(c) = </a:t>
            </a:r>
            <a:r>
              <a:rPr lang="en-IN" dirty="0" err="1" smtClean="0"/>
              <a:t>deg</a:t>
            </a:r>
            <a:r>
              <a:rPr lang="en-IN" dirty="0" smtClean="0"/>
              <a:t>(f ) = 4, </a:t>
            </a:r>
            <a:r>
              <a:rPr lang="en-IN" dirty="0" err="1" smtClean="0"/>
              <a:t>deg</a:t>
            </a:r>
            <a:r>
              <a:rPr lang="en-IN" dirty="0" smtClean="0"/>
              <a:t>(d ) = 1, </a:t>
            </a:r>
            <a:r>
              <a:rPr lang="en-IN" dirty="0" err="1" smtClean="0"/>
              <a:t>deg</a:t>
            </a:r>
            <a:r>
              <a:rPr lang="en-IN" dirty="0" smtClean="0"/>
              <a:t>(e) = 3, and </a:t>
            </a:r>
            <a:r>
              <a:rPr lang="en-IN" dirty="0" err="1" smtClean="0"/>
              <a:t>deg</a:t>
            </a:r>
            <a:r>
              <a:rPr lang="en-IN" dirty="0" smtClean="0"/>
              <a:t>(g) = 0. The </a:t>
            </a:r>
            <a:r>
              <a:rPr lang="en-IN" dirty="0" err="1" smtClean="0"/>
              <a:t>neighborhoods</a:t>
            </a:r>
            <a:r>
              <a:rPr lang="en-IN" dirty="0" smtClean="0"/>
              <a:t> of these vertices are N(a) = {b, f }, N(b) = {a, c, e, f }, N(c) = {b, d, e, f }, N(d) = {c}, N(e) = {b, c, f }, N(f ) = {a, b, c, e}, and N(g) = ∅.</a:t>
            </a:r>
            <a:endParaRPr lang="en-IN" dirty="0"/>
          </a:p>
        </p:txBody>
      </p:sp>
      <p:sp>
        <p:nvSpPr>
          <p:cNvPr id="5" name="Rectangle 4"/>
          <p:cNvSpPr/>
          <p:nvPr/>
        </p:nvSpPr>
        <p:spPr>
          <a:xfrm>
            <a:off x="1475656" y="4797152"/>
            <a:ext cx="6336704" cy="923330"/>
          </a:xfrm>
          <a:prstGeom prst="rect">
            <a:avLst/>
          </a:prstGeom>
        </p:spPr>
        <p:txBody>
          <a:bodyPr wrap="square">
            <a:spAutoFit/>
          </a:bodyPr>
          <a:lstStyle/>
          <a:p>
            <a:r>
              <a:rPr lang="en-IN" dirty="0" smtClean="0"/>
              <a:t>In graph H, </a:t>
            </a:r>
            <a:r>
              <a:rPr lang="en-IN" dirty="0" err="1" smtClean="0"/>
              <a:t>deg</a:t>
            </a:r>
            <a:r>
              <a:rPr lang="en-IN" dirty="0" smtClean="0"/>
              <a:t>(a) = 4, </a:t>
            </a:r>
            <a:r>
              <a:rPr lang="en-IN" dirty="0" err="1" smtClean="0"/>
              <a:t>deg</a:t>
            </a:r>
            <a:r>
              <a:rPr lang="en-IN" dirty="0" smtClean="0"/>
              <a:t>(b) = </a:t>
            </a:r>
            <a:r>
              <a:rPr lang="en-IN" dirty="0" err="1" smtClean="0"/>
              <a:t>deg</a:t>
            </a:r>
            <a:r>
              <a:rPr lang="en-IN" dirty="0" smtClean="0"/>
              <a:t>(e) = 6, </a:t>
            </a:r>
            <a:r>
              <a:rPr lang="en-IN" dirty="0" err="1" smtClean="0"/>
              <a:t>deg</a:t>
            </a:r>
            <a:r>
              <a:rPr lang="en-IN" dirty="0" smtClean="0"/>
              <a:t>(c) = 1, and </a:t>
            </a:r>
            <a:r>
              <a:rPr lang="en-IN" dirty="0" err="1" smtClean="0"/>
              <a:t>deg</a:t>
            </a:r>
            <a:r>
              <a:rPr lang="en-IN" dirty="0" smtClean="0"/>
              <a:t>(d ) = 5. The </a:t>
            </a:r>
            <a:r>
              <a:rPr lang="en-IN" dirty="0" err="1" smtClean="0"/>
              <a:t>neighborhoods</a:t>
            </a:r>
            <a:r>
              <a:rPr lang="en-IN" dirty="0" smtClean="0"/>
              <a:t> of these vertices are N(a) = {b, d, e}, N(b) = {a, b, c, d, e}, N(c) = {b}, N(d) = {a, b, e}, and N(e) = {a, b, d}.</a:t>
            </a:r>
            <a:endParaRPr lang="en-IN" dirty="0"/>
          </a:p>
        </p:txBody>
      </p:sp>
    </p:spTree>
    <p:extLst>
      <p:ext uri="{BB962C8B-B14F-4D97-AF65-F5344CB8AC3E}">
        <p14:creationId xmlns:p14="http://schemas.microsoft.com/office/powerpoint/2010/main" val="205977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Handshaking Theorem</a:t>
            </a: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1772816"/>
            <a:ext cx="6554115" cy="171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331640" y="4005064"/>
            <a:ext cx="6480720" cy="1477328"/>
          </a:xfrm>
          <a:prstGeom prst="rect">
            <a:avLst/>
          </a:prstGeom>
        </p:spPr>
        <p:txBody>
          <a:bodyPr wrap="square">
            <a:spAutoFit/>
          </a:bodyPr>
          <a:lstStyle/>
          <a:p>
            <a:r>
              <a:rPr lang="en-GB" b="1" dirty="0" smtClean="0"/>
              <a:t>Example: </a:t>
            </a:r>
            <a:r>
              <a:rPr lang="en-GB" dirty="0" smtClean="0"/>
              <a:t>How many edges are there in a graph with 10 vertices each of degree six?</a:t>
            </a:r>
          </a:p>
          <a:p>
            <a:r>
              <a:rPr lang="en-GB" b="1" dirty="0" smtClean="0"/>
              <a:t>Solution: </a:t>
            </a:r>
            <a:r>
              <a:rPr lang="en-GB" dirty="0" smtClean="0"/>
              <a:t>Because the sum of the degrees of the vertices is 6 · 10 = 60, it follows that 2m = 60, where m is the number of edges. Therefore, m = 30.</a:t>
            </a:r>
            <a:endParaRPr lang="en-IN" dirty="0"/>
          </a:p>
        </p:txBody>
      </p:sp>
    </p:spTree>
    <p:extLst>
      <p:ext uri="{BB962C8B-B14F-4D97-AF65-F5344CB8AC3E}">
        <p14:creationId xmlns:p14="http://schemas.microsoft.com/office/powerpoint/2010/main" val="4271048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smtClean="0">
                <a:solidFill>
                  <a:srgbClr val="FF0000"/>
                </a:solidFill>
              </a:rPr>
              <a:t>Theorem: </a:t>
            </a:r>
            <a:r>
              <a:rPr lang="en-GB" sz="2800" dirty="0" smtClean="0"/>
              <a:t>An undirected graph has an even number of vertices of odd degree.</a:t>
            </a:r>
            <a:r>
              <a:rPr lang="en-IN" sz="2800" dirty="0" smtClean="0"/>
              <a:t/>
            </a:r>
            <a:br>
              <a:rPr lang="en-IN" sz="2800" dirty="0" smtClean="0"/>
            </a:br>
            <a:endParaRPr lang="en-IN" sz="2800"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2047" y="2449339"/>
            <a:ext cx="6839905" cy="2495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4495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t>Average and Maximum Number of Edges</a:t>
            </a:r>
            <a:endParaRPr lang="en-IN" sz="36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GB" dirty="0" smtClean="0"/>
                  <a:t>The </a:t>
                </a:r>
                <a:r>
                  <a:rPr lang="en-GB" dirty="0" smtClean="0">
                    <a:solidFill>
                      <a:srgbClr val="FF0000"/>
                    </a:solidFill>
                  </a:rPr>
                  <a:t>average degree </a:t>
                </a:r>
                <a:r>
                  <a:rPr lang="en-GB" dirty="0">
                    <a:solidFill>
                      <a:srgbClr val="FF0000"/>
                    </a:solidFill>
                  </a:rPr>
                  <a:t>of vertices </a:t>
                </a:r>
                <a:r>
                  <a:rPr lang="en-GB" dirty="0"/>
                  <a:t>in an undirected </a:t>
                </a:r>
                <a:r>
                  <a:rPr lang="en-GB" dirty="0" smtClean="0"/>
                  <a:t>graph is </a:t>
                </a:r>
                <a14:m>
                  <m:oMath xmlns:m="http://schemas.openxmlformats.org/officeDocument/2006/math">
                    <m:f>
                      <m:fPr>
                        <m:ctrlPr>
                          <a:rPr lang="en-GB" i="1" smtClean="0">
                            <a:solidFill>
                              <a:srgbClr val="FF0000"/>
                            </a:solidFill>
                            <a:latin typeface="Cambria Math"/>
                          </a:rPr>
                        </m:ctrlPr>
                      </m:fPr>
                      <m:num>
                        <m:r>
                          <a:rPr lang="en-GB" b="0" i="1" smtClean="0">
                            <a:solidFill>
                              <a:srgbClr val="FF0000"/>
                            </a:solidFill>
                            <a:latin typeface="Cambria Math"/>
                          </a:rPr>
                          <m:t>2</m:t>
                        </m:r>
                        <m:r>
                          <a:rPr lang="en-GB" b="0" i="1" smtClean="0">
                            <a:solidFill>
                              <a:srgbClr val="FF0000"/>
                            </a:solidFill>
                            <a:latin typeface="Cambria Math"/>
                          </a:rPr>
                          <m:t>𝐸</m:t>
                        </m:r>
                      </m:num>
                      <m:den>
                        <m:r>
                          <a:rPr lang="en-GB" b="0" i="1" smtClean="0">
                            <a:solidFill>
                              <a:srgbClr val="FF0000"/>
                            </a:solidFill>
                            <a:latin typeface="Cambria Math"/>
                          </a:rPr>
                          <m:t>𝑛</m:t>
                        </m:r>
                      </m:den>
                    </m:f>
                    <m:r>
                      <a:rPr lang="en-GB" b="0" i="0" smtClean="0">
                        <a:solidFill>
                          <a:srgbClr val="FF0000"/>
                        </a:solidFill>
                        <a:latin typeface="Cambria Math"/>
                      </a:rPr>
                      <m:t>;</m:t>
                    </m:r>
                  </m:oMath>
                </a14:m>
                <a:endParaRPr lang="en-IN" dirty="0" smtClean="0"/>
              </a:p>
              <a:p>
                <a:pPr marL="400050" lvl="1" indent="0">
                  <a:buNone/>
                </a:pPr>
                <a:r>
                  <a:rPr lang="en-GB" dirty="0"/>
                  <a:t>w</a:t>
                </a:r>
                <a:r>
                  <a:rPr lang="en-GB" dirty="0" smtClean="0"/>
                  <a:t>here E</a:t>
                </a:r>
                <a:r>
                  <a:rPr lang="en-GB" dirty="0"/>
                  <a:t> is the number of edges in the </a:t>
                </a:r>
                <a:r>
                  <a:rPr lang="en-GB" dirty="0" smtClean="0"/>
                  <a:t>graph and n</a:t>
                </a:r>
                <a:r>
                  <a:rPr lang="en-GB" dirty="0"/>
                  <a:t> is the number of vertices in the graph</a:t>
                </a:r>
                <a:r>
                  <a:rPr lang="en-GB" dirty="0" smtClean="0"/>
                  <a:t>.</a:t>
                </a:r>
              </a:p>
              <a:p>
                <a:r>
                  <a:rPr lang="en-GB" dirty="0" smtClean="0"/>
                  <a:t>For a graph with 'n' </a:t>
                </a:r>
                <a:r>
                  <a:rPr lang="en-GB" dirty="0"/>
                  <a:t>vertices, the </a:t>
                </a:r>
                <a:r>
                  <a:rPr lang="en-GB" dirty="0">
                    <a:solidFill>
                      <a:srgbClr val="FF0000"/>
                    </a:solidFill>
                  </a:rPr>
                  <a:t>maximum number of edges</a:t>
                </a:r>
                <a:r>
                  <a:rPr lang="en-GB" dirty="0"/>
                  <a:t> that the graph can have without forming multiple edges or loops is given </a:t>
                </a:r>
                <a:r>
                  <a:rPr lang="en-GB" dirty="0" smtClean="0"/>
                  <a:t>by </a:t>
                </a:r>
                <a14:m>
                  <m:oMath xmlns:m="http://schemas.openxmlformats.org/officeDocument/2006/math">
                    <m:f>
                      <m:fPr>
                        <m:ctrlPr>
                          <a:rPr lang="en-GB" i="1" smtClean="0">
                            <a:solidFill>
                              <a:srgbClr val="FF0000"/>
                            </a:solidFill>
                            <a:latin typeface="Cambria Math"/>
                          </a:rPr>
                        </m:ctrlPr>
                      </m:fPr>
                      <m:num>
                        <m:r>
                          <a:rPr lang="en-GB" b="0" i="1" smtClean="0">
                            <a:solidFill>
                              <a:srgbClr val="FF0000"/>
                            </a:solidFill>
                            <a:latin typeface="Cambria Math"/>
                          </a:rPr>
                          <m:t>𝑛</m:t>
                        </m:r>
                        <m:r>
                          <a:rPr lang="en-GB" b="0" i="1" smtClean="0">
                            <a:solidFill>
                              <a:srgbClr val="FF0000"/>
                            </a:solidFill>
                            <a:latin typeface="Cambria Math"/>
                          </a:rPr>
                          <m:t>(</m:t>
                        </m:r>
                        <m:r>
                          <a:rPr lang="en-GB" b="0" i="1" smtClean="0">
                            <a:solidFill>
                              <a:srgbClr val="FF0000"/>
                            </a:solidFill>
                            <a:latin typeface="Cambria Math"/>
                          </a:rPr>
                          <m:t>𝑛</m:t>
                        </m:r>
                        <m:r>
                          <a:rPr lang="en-GB" b="0" i="1" smtClean="0">
                            <a:solidFill>
                              <a:srgbClr val="FF0000"/>
                            </a:solidFill>
                            <a:latin typeface="Cambria Math"/>
                          </a:rPr>
                          <m:t>−1)</m:t>
                        </m:r>
                      </m:num>
                      <m:den>
                        <m:r>
                          <a:rPr lang="en-GB" b="0" i="1" smtClean="0">
                            <a:solidFill>
                              <a:srgbClr val="FF0000"/>
                            </a:solidFill>
                            <a:latin typeface="Cambria Math"/>
                          </a:rPr>
                          <m:t>2</m:t>
                        </m:r>
                      </m:den>
                    </m:f>
                  </m:oMath>
                </a14:m>
                <a:r>
                  <a:rPr lang="en-IN" dirty="0" smtClean="0"/>
                  <a:t>.</a:t>
                </a:r>
                <a:endParaRPr lang="en-GB" dirty="0"/>
              </a:p>
              <a:p>
                <a:endParaRPr lang="en-I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1630" b="-16442"/>
                </a:stretch>
              </a:blipFill>
            </p:spPr>
            <p:txBody>
              <a:bodyPr/>
              <a:lstStyle/>
              <a:p>
                <a:r>
                  <a:rPr lang="en-IN">
                    <a:noFill/>
                  </a:rPr>
                  <a:t> </a:t>
                </a:r>
              </a:p>
            </p:txBody>
          </p:sp>
        </mc:Fallback>
      </mc:AlternateContent>
    </p:spTree>
    <p:extLst>
      <p:ext uri="{BB962C8B-B14F-4D97-AF65-F5344CB8AC3E}">
        <p14:creationId xmlns:p14="http://schemas.microsoft.com/office/powerpoint/2010/main" val="3305782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fontScale="90000"/>
          </a:bodyPr>
          <a:lstStyle/>
          <a:p>
            <a:r>
              <a:rPr lang="en-GB" dirty="0" smtClean="0">
                <a:solidFill>
                  <a:schemeClr val="accent1"/>
                </a:solidFill>
              </a:rPr>
              <a:t>Terminology for undirected graphs:</a:t>
            </a:r>
            <a:br>
              <a:rPr lang="en-GB" dirty="0" smtClean="0">
                <a:solidFill>
                  <a:schemeClr val="accent1"/>
                </a:solidFill>
              </a:rPr>
            </a:br>
            <a:endParaRPr lang="en-IN" dirty="0"/>
          </a:p>
        </p:txBody>
      </p:sp>
      <p:sp>
        <p:nvSpPr>
          <p:cNvPr id="3" name="Content Placeholder 2"/>
          <p:cNvSpPr>
            <a:spLocks noGrp="1"/>
          </p:cNvSpPr>
          <p:nvPr>
            <p:ph idx="1"/>
          </p:nvPr>
        </p:nvSpPr>
        <p:spPr>
          <a:xfrm>
            <a:off x="457200" y="1268760"/>
            <a:ext cx="8229600" cy="4857403"/>
          </a:xfrm>
        </p:spPr>
        <p:txBody>
          <a:bodyPr/>
          <a:lstStyle/>
          <a:p>
            <a:r>
              <a:rPr lang="en-GB" dirty="0" smtClean="0"/>
              <a:t>When (u, v) is an edge of the graph G with directed edges, u is said to be adjacent to v and v is said to be adjacent from u. </a:t>
            </a:r>
          </a:p>
          <a:p>
            <a:r>
              <a:rPr lang="en-GB" dirty="0" smtClean="0"/>
              <a:t>The vertex u is called the initial vertex of (u, v), and v is called the terminal or end vertex of (u, v). </a:t>
            </a:r>
          </a:p>
          <a:p>
            <a:r>
              <a:rPr lang="en-GB" dirty="0" smtClean="0"/>
              <a:t>The initial vertex and terminal vertex of a loop are the same.</a:t>
            </a:r>
            <a:endParaRPr lang="en-IN" dirty="0"/>
          </a:p>
        </p:txBody>
      </p:sp>
    </p:spTree>
    <p:extLst>
      <p:ext uri="{BB962C8B-B14F-4D97-AF65-F5344CB8AC3E}">
        <p14:creationId xmlns:p14="http://schemas.microsoft.com/office/powerpoint/2010/main" val="767829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Degree of Vertex in Directed Graph</a:t>
            </a:r>
            <a:endParaRPr lang="en-IN" dirty="0"/>
          </a:p>
        </p:txBody>
      </p:sp>
      <p:sp>
        <p:nvSpPr>
          <p:cNvPr id="3" name="Content Placeholder 2"/>
          <p:cNvSpPr>
            <a:spLocks noGrp="1"/>
          </p:cNvSpPr>
          <p:nvPr>
            <p:ph idx="1"/>
          </p:nvPr>
        </p:nvSpPr>
        <p:spPr/>
        <p:txBody>
          <a:bodyPr>
            <a:normAutofit lnSpcReduction="10000"/>
          </a:bodyPr>
          <a:lstStyle/>
          <a:p>
            <a:r>
              <a:rPr lang="en-GB" dirty="0" smtClean="0"/>
              <a:t>In a graph with directed edges the </a:t>
            </a:r>
            <a:r>
              <a:rPr lang="en-GB" dirty="0" smtClean="0">
                <a:solidFill>
                  <a:srgbClr val="FF0000"/>
                </a:solidFill>
              </a:rPr>
              <a:t>in-degree of a vertex v</a:t>
            </a:r>
            <a:r>
              <a:rPr lang="en-GB" dirty="0" smtClean="0"/>
              <a:t>, denoted by </a:t>
            </a:r>
            <a:r>
              <a:rPr lang="en-GB" dirty="0" err="1" smtClean="0"/>
              <a:t>deg</a:t>
            </a:r>
            <a:r>
              <a:rPr lang="en-GB" baseline="30000" dirty="0" smtClean="0"/>
              <a:t>-</a:t>
            </a:r>
            <a:r>
              <a:rPr lang="en-GB" dirty="0" smtClean="0"/>
              <a:t>(v), is the number of edges with v as their terminal vertex. The </a:t>
            </a:r>
            <a:r>
              <a:rPr lang="en-GB" dirty="0" smtClean="0">
                <a:solidFill>
                  <a:srgbClr val="FF0000"/>
                </a:solidFill>
              </a:rPr>
              <a:t>out-degree of v</a:t>
            </a:r>
            <a:r>
              <a:rPr lang="en-GB" dirty="0" smtClean="0"/>
              <a:t>, denoted by </a:t>
            </a:r>
            <a:r>
              <a:rPr lang="en-GB" dirty="0" err="1" smtClean="0"/>
              <a:t>deg</a:t>
            </a:r>
            <a:r>
              <a:rPr lang="en-GB" baseline="30000" dirty="0" smtClean="0"/>
              <a:t>+</a:t>
            </a:r>
            <a:r>
              <a:rPr lang="en-GB" dirty="0" smtClean="0"/>
              <a:t>(v), is the number of edges with v as their initial vertex. </a:t>
            </a:r>
          </a:p>
          <a:p>
            <a:r>
              <a:rPr lang="en-GB" dirty="0" smtClean="0"/>
              <a:t>Note that a loop at a vertex contributes 1 to both the in-degree and the out-degree of this vertex.</a:t>
            </a:r>
            <a:endParaRPr lang="en-IN" dirty="0"/>
          </a:p>
        </p:txBody>
      </p:sp>
    </p:spTree>
    <p:extLst>
      <p:ext uri="{BB962C8B-B14F-4D97-AF65-F5344CB8AC3E}">
        <p14:creationId xmlns:p14="http://schemas.microsoft.com/office/powerpoint/2010/main" val="1633940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IN"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1412776"/>
            <a:ext cx="6754168" cy="2172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077072"/>
            <a:ext cx="7128792" cy="106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665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Result</a:t>
            </a:r>
            <a:endParaRPr lang="en-IN" dirty="0"/>
          </a:p>
        </p:txBody>
      </p:sp>
      <p:sp>
        <p:nvSpPr>
          <p:cNvPr id="3" name="Content Placeholder 2"/>
          <p:cNvSpPr>
            <a:spLocks noGrp="1"/>
          </p:cNvSpPr>
          <p:nvPr>
            <p:ph idx="1"/>
          </p:nvPr>
        </p:nvSpPr>
        <p:spPr/>
        <p:txBody>
          <a:bodyPr/>
          <a:lstStyle/>
          <a:p>
            <a:r>
              <a:rPr lang="en-GB" dirty="0" smtClean="0"/>
              <a:t>Because each edge has an initial vertex and a terminal vertex, the sum of the in-degrees and the sum of the out-degrees of all vertices in a graph with directed edges are the same. Both of these sums are the number of edges in the graph, i.e., </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653136"/>
            <a:ext cx="5328591"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5695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Some Special Simple Graphs</a:t>
            </a:r>
            <a:r>
              <a:rPr lang="en-GB" dirty="0" smtClean="0"/>
              <a:t> </a:t>
            </a:r>
            <a:endParaRPr lang="en-IN" dirty="0"/>
          </a:p>
        </p:txBody>
      </p:sp>
      <p:sp>
        <p:nvSpPr>
          <p:cNvPr id="3" name="Content Placeholder 2"/>
          <p:cNvSpPr>
            <a:spLocks noGrp="1"/>
          </p:cNvSpPr>
          <p:nvPr>
            <p:ph idx="1"/>
          </p:nvPr>
        </p:nvSpPr>
        <p:spPr/>
        <p:txBody>
          <a:bodyPr/>
          <a:lstStyle/>
          <a:p>
            <a:pPr marL="0" indent="0">
              <a:buNone/>
            </a:pPr>
            <a:r>
              <a:rPr lang="en-GB" b="1" dirty="0" smtClean="0">
                <a:solidFill>
                  <a:srgbClr val="FF0000"/>
                </a:solidFill>
              </a:rPr>
              <a:t>Complete Graphs:</a:t>
            </a:r>
          </a:p>
          <a:p>
            <a:r>
              <a:rPr lang="en-GB" sz="2400" dirty="0" smtClean="0"/>
              <a:t>A complete graph on n vertices, denoted by </a:t>
            </a:r>
            <a:r>
              <a:rPr lang="en-GB" sz="2400" i="1" dirty="0" err="1" smtClean="0"/>
              <a:t>K</a:t>
            </a:r>
            <a:r>
              <a:rPr lang="en-GB" sz="2400" baseline="-25000" dirty="0" err="1" smtClean="0"/>
              <a:t>n</a:t>
            </a:r>
            <a:r>
              <a:rPr lang="en-GB" sz="2400" dirty="0" smtClean="0"/>
              <a:t>, is a simple graph that contains exactly one edge between each pair of distinct vertices.</a:t>
            </a:r>
          </a:p>
          <a:p>
            <a:r>
              <a:rPr lang="en-GB" sz="2400" dirty="0" smtClean="0"/>
              <a:t>A simple graph for which there is at least one pair of distinct vertex not connected by an edge is called non-complete.</a:t>
            </a:r>
          </a:p>
          <a:p>
            <a:r>
              <a:rPr lang="en-GB" sz="2400" dirty="0" smtClean="0"/>
              <a:t>The complete graphs for n=1,2,3,4,5,6 are as follows.</a:t>
            </a: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7" y="4725144"/>
            <a:ext cx="7497763"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511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Cycle</a:t>
            </a:r>
            <a:endParaRPr lang="en-IN" dirty="0"/>
          </a:p>
        </p:txBody>
      </p:sp>
      <p:sp>
        <p:nvSpPr>
          <p:cNvPr id="3" name="Content Placeholder 2"/>
          <p:cNvSpPr>
            <a:spLocks noGrp="1"/>
          </p:cNvSpPr>
          <p:nvPr>
            <p:ph idx="1"/>
          </p:nvPr>
        </p:nvSpPr>
        <p:spPr/>
        <p:txBody>
          <a:bodyPr>
            <a:normAutofit lnSpcReduction="10000"/>
          </a:bodyPr>
          <a:lstStyle/>
          <a:p>
            <a:r>
              <a:rPr lang="en-GB" dirty="0" smtClean="0"/>
              <a:t>A </a:t>
            </a:r>
            <a:r>
              <a:rPr lang="en-GB" b="1" dirty="0" smtClean="0">
                <a:solidFill>
                  <a:srgbClr val="FF0000"/>
                </a:solidFill>
              </a:rPr>
              <a:t>cycle </a:t>
            </a:r>
            <a:r>
              <a:rPr lang="en-GB" b="1" i="1" dirty="0" err="1" smtClean="0">
                <a:solidFill>
                  <a:srgbClr val="FF0000"/>
                </a:solidFill>
              </a:rPr>
              <a:t>C</a:t>
            </a:r>
            <a:r>
              <a:rPr lang="en-GB" b="1" i="1" baseline="-25000" dirty="0" err="1" smtClean="0">
                <a:solidFill>
                  <a:srgbClr val="FF0000"/>
                </a:solidFill>
              </a:rPr>
              <a:t>n</a:t>
            </a:r>
            <a:r>
              <a:rPr lang="en-GB" dirty="0" smtClean="0"/>
              <a:t>, n ≥ 3, consists of n vertices v</a:t>
            </a:r>
            <a:r>
              <a:rPr lang="en-GB" baseline="-25000" dirty="0" smtClean="0"/>
              <a:t>1</a:t>
            </a:r>
            <a:r>
              <a:rPr lang="en-GB" dirty="0" smtClean="0"/>
              <a:t>, v</a:t>
            </a:r>
            <a:r>
              <a:rPr lang="en-GB" baseline="-25000" dirty="0" smtClean="0"/>
              <a:t>2</a:t>
            </a:r>
            <a:r>
              <a:rPr lang="en-GB" dirty="0" smtClean="0"/>
              <a:t>, . . . , </a:t>
            </a:r>
            <a:r>
              <a:rPr lang="en-GB" dirty="0" err="1" smtClean="0"/>
              <a:t>v</a:t>
            </a:r>
            <a:r>
              <a:rPr lang="en-GB" baseline="-25000" dirty="0" err="1" smtClean="0"/>
              <a:t>n</a:t>
            </a:r>
            <a:r>
              <a:rPr lang="en-GB" dirty="0" smtClean="0"/>
              <a:t> and edges {</a:t>
            </a:r>
            <a:r>
              <a:rPr lang="en-GB" dirty="0" smtClean="0"/>
              <a:t>v</a:t>
            </a:r>
            <a:r>
              <a:rPr lang="en-GB" baseline="-25000" dirty="0" smtClean="0"/>
              <a:t>1</a:t>
            </a:r>
            <a:r>
              <a:rPr lang="en-GB" dirty="0" smtClean="0"/>
              <a:t>, v</a:t>
            </a:r>
            <a:r>
              <a:rPr lang="en-GB" baseline="-25000" dirty="0" smtClean="0"/>
              <a:t>2</a:t>
            </a:r>
            <a:r>
              <a:rPr lang="en-GB" dirty="0" smtClean="0"/>
              <a:t>}, {</a:t>
            </a:r>
            <a:r>
              <a:rPr lang="en-GB" dirty="0" smtClean="0"/>
              <a:t>v</a:t>
            </a:r>
            <a:r>
              <a:rPr lang="en-GB" baseline="-25000" dirty="0" smtClean="0"/>
              <a:t>2</a:t>
            </a:r>
            <a:r>
              <a:rPr lang="en-GB" dirty="0" smtClean="0"/>
              <a:t>, v</a:t>
            </a:r>
            <a:r>
              <a:rPr lang="en-GB" baseline="-25000" dirty="0"/>
              <a:t>3</a:t>
            </a:r>
            <a:r>
              <a:rPr lang="en-GB" dirty="0" smtClean="0"/>
              <a:t>}, . . . , {</a:t>
            </a:r>
            <a:r>
              <a:rPr lang="en-GB" dirty="0" smtClean="0"/>
              <a:t>v</a:t>
            </a:r>
            <a:r>
              <a:rPr lang="en-GB" baseline="-25000" dirty="0" smtClean="0"/>
              <a:t>n-1</a:t>
            </a:r>
            <a:r>
              <a:rPr lang="en-GB" dirty="0" smtClean="0"/>
              <a:t>, </a:t>
            </a:r>
            <a:r>
              <a:rPr lang="en-GB" dirty="0" err="1" smtClean="0"/>
              <a:t>v</a:t>
            </a:r>
            <a:r>
              <a:rPr lang="en-GB" baseline="-25000" dirty="0" err="1"/>
              <a:t>n</a:t>
            </a:r>
            <a:r>
              <a:rPr lang="en-GB" dirty="0" smtClean="0"/>
              <a:t>}, and {</a:t>
            </a:r>
            <a:r>
              <a:rPr lang="en-GB" dirty="0" err="1" smtClean="0"/>
              <a:t>v</a:t>
            </a:r>
            <a:r>
              <a:rPr lang="en-GB" baseline="-25000" dirty="0" err="1" smtClean="0"/>
              <a:t>n</a:t>
            </a:r>
            <a:r>
              <a:rPr lang="en-GB" dirty="0" smtClean="0"/>
              <a:t>, v</a:t>
            </a:r>
            <a:r>
              <a:rPr lang="en-GB" baseline="-25000" dirty="0"/>
              <a:t>1</a:t>
            </a:r>
            <a:r>
              <a:rPr lang="en-GB" dirty="0" smtClean="0"/>
              <a:t>}. The cycles </a:t>
            </a:r>
            <a:r>
              <a:rPr lang="en-GB" i="1" dirty="0" smtClean="0"/>
              <a:t>C</a:t>
            </a:r>
            <a:r>
              <a:rPr lang="en-GB" i="1" baseline="-25000" dirty="0" smtClean="0"/>
              <a:t>3</a:t>
            </a:r>
            <a:r>
              <a:rPr lang="en-GB" i="1" dirty="0" smtClean="0"/>
              <a:t>, C</a:t>
            </a:r>
            <a:r>
              <a:rPr lang="en-GB" i="1" baseline="-25000" dirty="0" smtClean="0"/>
              <a:t>4</a:t>
            </a:r>
            <a:r>
              <a:rPr lang="en-GB" i="1" dirty="0" smtClean="0"/>
              <a:t>, C</a:t>
            </a:r>
            <a:r>
              <a:rPr lang="en-GB" i="1" baseline="-25000" dirty="0" smtClean="0"/>
              <a:t>5</a:t>
            </a:r>
            <a:r>
              <a:rPr lang="en-GB" dirty="0" smtClean="0"/>
              <a:t>, and </a:t>
            </a:r>
            <a:r>
              <a:rPr lang="en-GB" i="1" dirty="0" smtClean="0"/>
              <a:t>C</a:t>
            </a:r>
            <a:r>
              <a:rPr lang="en-GB" i="1" baseline="-25000" dirty="0" smtClean="0"/>
              <a:t>6</a:t>
            </a:r>
            <a:r>
              <a:rPr lang="en-GB" dirty="0" smtClean="0"/>
              <a:t>  are displayed as follows.</a:t>
            </a:r>
          </a:p>
          <a:p>
            <a:endParaRPr lang="en-GB" dirty="0" smtClean="0"/>
          </a:p>
          <a:p>
            <a:endParaRPr lang="en-GB" dirty="0"/>
          </a:p>
          <a:p>
            <a:endParaRPr lang="en-GB" dirty="0" smtClean="0"/>
          </a:p>
          <a:p>
            <a:r>
              <a:rPr lang="en-GB" dirty="0" smtClean="0"/>
              <a:t>We can see here that the cycle </a:t>
            </a:r>
            <a:r>
              <a:rPr lang="en-GB" i="1" dirty="0" smtClean="0"/>
              <a:t>C</a:t>
            </a:r>
            <a:r>
              <a:rPr lang="en-GB" i="1" baseline="-25000" dirty="0" smtClean="0"/>
              <a:t>3</a:t>
            </a:r>
            <a:r>
              <a:rPr lang="en-GB" dirty="0" smtClean="0"/>
              <a:t> is complete, but </a:t>
            </a:r>
            <a:r>
              <a:rPr lang="en-GB" i="1" dirty="0" smtClean="0"/>
              <a:t>C</a:t>
            </a:r>
            <a:r>
              <a:rPr lang="en-GB" i="1" baseline="-25000" dirty="0" smtClean="0"/>
              <a:t>4</a:t>
            </a:r>
            <a:r>
              <a:rPr lang="en-GB" i="1" dirty="0" smtClean="0"/>
              <a:t>, C</a:t>
            </a:r>
            <a:r>
              <a:rPr lang="en-GB" i="1" baseline="-25000" dirty="0" smtClean="0"/>
              <a:t>5</a:t>
            </a:r>
            <a:r>
              <a:rPr lang="en-GB" i="1" dirty="0" smtClean="0"/>
              <a:t>,</a:t>
            </a:r>
            <a:r>
              <a:rPr lang="en-GB" dirty="0" smtClean="0"/>
              <a:t> and </a:t>
            </a:r>
            <a:r>
              <a:rPr lang="en-GB" i="1" dirty="0" smtClean="0"/>
              <a:t>C</a:t>
            </a:r>
            <a:r>
              <a:rPr lang="en-GB" i="1" baseline="-25000" dirty="0" smtClean="0"/>
              <a:t>6</a:t>
            </a:r>
            <a:r>
              <a:rPr lang="en-GB" dirty="0" smtClean="0"/>
              <a:t> are not complete graphs.</a:t>
            </a:r>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573016"/>
            <a:ext cx="478155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477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Bipartite Graph</a:t>
            </a:r>
            <a:endParaRPr lang="en-IN" dirty="0"/>
          </a:p>
        </p:txBody>
      </p:sp>
      <p:sp>
        <p:nvSpPr>
          <p:cNvPr id="3" name="Content Placeholder 2"/>
          <p:cNvSpPr>
            <a:spLocks noGrp="1"/>
          </p:cNvSpPr>
          <p:nvPr>
            <p:ph idx="1"/>
          </p:nvPr>
        </p:nvSpPr>
        <p:spPr/>
        <p:txBody>
          <a:bodyPr>
            <a:normAutofit/>
          </a:bodyPr>
          <a:lstStyle/>
          <a:p>
            <a:r>
              <a:rPr lang="en-GB" sz="2400" dirty="0" smtClean="0"/>
              <a:t>A simple graph G is called </a:t>
            </a:r>
            <a:r>
              <a:rPr lang="en-GB" sz="2400" dirty="0" smtClean="0">
                <a:solidFill>
                  <a:srgbClr val="FF0000"/>
                </a:solidFill>
              </a:rPr>
              <a:t>bipartite</a:t>
            </a:r>
            <a:r>
              <a:rPr lang="en-GB" sz="2400" dirty="0" smtClean="0"/>
              <a:t> if its vertex set V can be partitioned into two disjoint sets V</a:t>
            </a:r>
            <a:r>
              <a:rPr lang="en-GB" sz="2400" baseline="-25000" dirty="0" smtClean="0"/>
              <a:t>1</a:t>
            </a:r>
            <a:r>
              <a:rPr lang="en-GB" sz="2400" dirty="0" smtClean="0"/>
              <a:t> and V</a:t>
            </a:r>
            <a:r>
              <a:rPr lang="en-GB" sz="2400" baseline="-25000" dirty="0" smtClean="0"/>
              <a:t>2</a:t>
            </a:r>
            <a:r>
              <a:rPr lang="en-GB" sz="2400" dirty="0" smtClean="0"/>
              <a:t> such that every edge in the graph connects a vertex in V</a:t>
            </a:r>
            <a:r>
              <a:rPr lang="en-GB" sz="2400" baseline="-25000" dirty="0" smtClean="0"/>
              <a:t>1</a:t>
            </a:r>
            <a:r>
              <a:rPr lang="en-GB" sz="2400" dirty="0" smtClean="0"/>
              <a:t> and a vertex in V</a:t>
            </a:r>
            <a:r>
              <a:rPr lang="en-GB" sz="2400" baseline="-25000" dirty="0" smtClean="0"/>
              <a:t>2</a:t>
            </a:r>
            <a:r>
              <a:rPr lang="en-GB" sz="2400" dirty="0" smtClean="0"/>
              <a:t>.</a:t>
            </a:r>
          </a:p>
          <a:p>
            <a:r>
              <a:rPr lang="en-GB" sz="2400" dirty="0" smtClean="0"/>
              <a:t>No edge in G connects either two vertices in V</a:t>
            </a:r>
            <a:r>
              <a:rPr lang="en-GB" sz="2400" baseline="-25000" dirty="0" smtClean="0"/>
              <a:t>1</a:t>
            </a:r>
            <a:r>
              <a:rPr lang="en-GB" sz="2400" dirty="0" smtClean="0"/>
              <a:t> or two vertices in V</a:t>
            </a:r>
            <a:r>
              <a:rPr lang="en-GB" sz="2400" baseline="-25000" dirty="0" smtClean="0"/>
              <a:t>2</a:t>
            </a:r>
            <a:r>
              <a:rPr lang="en-GB" sz="2400" dirty="0" smtClean="0"/>
              <a:t>. </a:t>
            </a:r>
          </a:p>
          <a:p>
            <a:r>
              <a:rPr lang="en-GB" sz="2400" dirty="0" smtClean="0"/>
              <a:t>When this condition holds, we call the pair (V</a:t>
            </a:r>
            <a:r>
              <a:rPr lang="en-GB" sz="2400" baseline="-25000" dirty="0" smtClean="0"/>
              <a:t>1</a:t>
            </a:r>
            <a:r>
              <a:rPr lang="en-GB" sz="2400" dirty="0" smtClean="0"/>
              <a:t>, V</a:t>
            </a:r>
            <a:r>
              <a:rPr lang="en-GB" sz="2400" baseline="-25000" dirty="0" smtClean="0"/>
              <a:t>2</a:t>
            </a:r>
            <a:r>
              <a:rPr lang="en-GB" sz="2400" dirty="0" smtClean="0"/>
              <a:t>) a bipartition of the vertex set V of G.</a:t>
            </a:r>
          </a:p>
          <a:p>
            <a:r>
              <a:rPr lang="en-GB" sz="2400" dirty="0" smtClean="0">
                <a:solidFill>
                  <a:srgbClr val="FF0000"/>
                </a:solidFill>
              </a:rPr>
              <a:t>Ex.</a:t>
            </a:r>
            <a:r>
              <a:rPr lang="en-GB" sz="2400" dirty="0" smtClean="0"/>
              <a:t> </a:t>
            </a:r>
            <a:r>
              <a:rPr lang="en-GB" sz="2400" i="1" dirty="0" smtClean="0"/>
              <a:t>C</a:t>
            </a:r>
            <a:r>
              <a:rPr lang="en-GB" sz="2400" i="1" baseline="-25000" dirty="0" smtClean="0"/>
              <a:t>6</a:t>
            </a:r>
            <a:r>
              <a:rPr lang="en-GB" sz="2400" i="1" dirty="0" smtClean="0"/>
              <a:t> </a:t>
            </a:r>
            <a:r>
              <a:rPr lang="en-GB" sz="2400" dirty="0" smtClean="0"/>
              <a:t>is bipartite, because its vertex set can be partitioned into the two sets V</a:t>
            </a:r>
            <a:r>
              <a:rPr lang="en-GB" sz="2400" baseline="-25000" dirty="0" smtClean="0"/>
              <a:t>1</a:t>
            </a:r>
            <a:r>
              <a:rPr lang="en-GB" sz="2400" dirty="0" smtClean="0"/>
              <a:t> = {v</a:t>
            </a:r>
            <a:r>
              <a:rPr lang="en-GB" sz="2400" baseline="-25000" dirty="0" smtClean="0"/>
              <a:t>1</a:t>
            </a:r>
            <a:r>
              <a:rPr lang="en-GB" sz="2400" dirty="0" smtClean="0"/>
              <a:t>, v</a:t>
            </a:r>
            <a:r>
              <a:rPr lang="en-GB" sz="2400" baseline="-25000" dirty="0" smtClean="0"/>
              <a:t>3</a:t>
            </a:r>
            <a:r>
              <a:rPr lang="en-GB" sz="2400" dirty="0" smtClean="0"/>
              <a:t>, v</a:t>
            </a:r>
            <a:r>
              <a:rPr lang="en-GB" sz="2400" baseline="-25000" dirty="0" smtClean="0"/>
              <a:t>5</a:t>
            </a:r>
            <a:r>
              <a:rPr lang="en-GB" sz="2400" dirty="0" smtClean="0"/>
              <a:t>} and V</a:t>
            </a:r>
            <a:r>
              <a:rPr lang="en-GB" sz="2400" baseline="-25000" dirty="0" smtClean="0"/>
              <a:t>2</a:t>
            </a:r>
            <a:r>
              <a:rPr lang="en-GB" sz="2400" dirty="0" smtClean="0"/>
              <a:t> = {v</a:t>
            </a:r>
            <a:r>
              <a:rPr lang="en-GB" sz="2400" baseline="-25000" dirty="0" smtClean="0"/>
              <a:t>2</a:t>
            </a:r>
            <a:r>
              <a:rPr lang="en-GB" sz="2400" dirty="0" smtClean="0"/>
              <a:t>, v</a:t>
            </a:r>
            <a:r>
              <a:rPr lang="en-GB" sz="2400" baseline="-25000" dirty="0" smtClean="0"/>
              <a:t>4</a:t>
            </a:r>
            <a:r>
              <a:rPr lang="en-GB" sz="2400" dirty="0" smtClean="0"/>
              <a:t>, v</a:t>
            </a:r>
            <a:r>
              <a:rPr lang="en-GB" sz="2400" baseline="-25000" dirty="0" smtClean="0"/>
              <a:t>6</a:t>
            </a:r>
            <a:r>
              <a:rPr lang="en-GB" sz="2400" dirty="0" smtClean="0"/>
              <a:t>}, and every edge of </a:t>
            </a:r>
            <a:r>
              <a:rPr lang="en-GB" sz="2400" i="1" dirty="0" smtClean="0"/>
              <a:t>C</a:t>
            </a:r>
            <a:r>
              <a:rPr lang="en-GB" sz="2400" i="1" baseline="-25000" dirty="0" smtClean="0"/>
              <a:t>6</a:t>
            </a:r>
            <a:r>
              <a:rPr lang="en-GB" sz="2400" i="1" dirty="0" smtClean="0"/>
              <a:t> </a:t>
            </a:r>
            <a:r>
              <a:rPr lang="en-GB" sz="2400" dirty="0" smtClean="0"/>
              <a:t>connects a vertex in V</a:t>
            </a:r>
            <a:r>
              <a:rPr lang="en-GB" sz="2400" baseline="-25000" dirty="0" smtClean="0"/>
              <a:t>1</a:t>
            </a:r>
            <a:r>
              <a:rPr lang="en-GB" sz="2400" dirty="0" smtClean="0"/>
              <a:t> and a vertex in V</a:t>
            </a:r>
            <a:r>
              <a:rPr lang="en-GB" sz="2400" baseline="-25000" dirty="0" smtClean="0"/>
              <a:t>2</a:t>
            </a:r>
            <a:r>
              <a:rPr lang="en-GB" sz="2400" dirty="0" smtClean="0"/>
              <a:t>.</a:t>
            </a:r>
            <a:endParaRPr lang="en-IN" sz="2400"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5589239"/>
            <a:ext cx="27336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descr="D:\Documents\BENNET\Discrete Mathematics 23-24\Lecture\G6\lec2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60" y="5589238"/>
            <a:ext cx="2304256" cy="111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575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i="1" dirty="0" smtClean="0"/>
              <a:t>K</a:t>
            </a:r>
            <a:r>
              <a:rPr lang="en-GB" sz="3600" i="1" baseline="-25000" dirty="0" smtClean="0"/>
              <a:t>3</a:t>
            </a:r>
            <a:r>
              <a:rPr lang="en-GB" sz="3600" dirty="0" smtClean="0"/>
              <a:t> is not bipartite</a:t>
            </a:r>
            <a:endParaRPr lang="en-IN" sz="3600" dirty="0"/>
          </a:p>
        </p:txBody>
      </p:sp>
      <p:sp>
        <p:nvSpPr>
          <p:cNvPr id="3" name="Content Placeholder 2"/>
          <p:cNvSpPr>
            <a:spLocks noGrp="1"/>
          </p:cNvSpPr>
          <p:nvPr>
            <p:ph idx="1"/>
          </p:nvPr>
        </p:nvSpPr>
        <p:spPr/>
        <p:txBody>
          <a:bodyPr>
            <a:normAutofit/>
          </a:bodyPr>
          <a:lstStyle/>
          <a:p>
            <a:r>
              <a:rPr lang="en-GB" dirty="0" smtClean="0"/>
              <a:t>To verify this, note that if we divide the vertex set of K</a:t>
            </a:r>
            <a:r>
              <a:rPr lang="en-GB" baseline="-25000" dirty="0" smtClean="0"/>
              <a:t>3</a:t>
            </a:r>
            <a:r>
              <a:rPr lang="en-GB" dirty="0" smtClean="0"/>
              <a:t> into two disjoint sets, one of the two sets must contain two vertices. </a:t>
            </a:r>
          </a:p>
          <a:p>
            <a:r>
              <a:rPr lang="en-GB" dirty="0" smtClean="0"/>
              <a:t>If the graph were bipartite, these two vertices could not be connected by an edge, but in K3 each vertex is connected to every other vertex by an edge.</a:t>
            </a:r>
            <a:endParaRPr lang="en-IN" dirty="0"/>
          </a:p>
        </p:txBody>
      </p:sp>
    </p:spTree>
    <p:extLst>
      <p:ext uri="{BB962C8B-B14F-4D97-AF65-F5344CB8AC3E}">
        <p14:creationId xmlns:p14="http://schemas.microsoft.com/office/powerpoint/2010/main" val="2828620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Which graph is bipartite?</a:t>
            </a:r>
            <a:endParaRPr lang="en-IN"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1800" y="1628800"/>
            <a:ext cx="4029637" cy="1762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331640" y="3717032"/>
            <a:ext cx="6696744" cy="2585323"/>
          </a:xfrm>
          <a:prstGeom prst="rect">
            <a:avLst/>
          </a:prstGeom>
        </p:spPr>
        <p:txBody>
          <a:bodyPr wrap="square">
            <a:spAutoFit/>
          </a:bodyPr>
          <a:lstStyle/>
          <a:p>
            <a:r>
              <a:rPr lang="en-GB" b="1" dirty="0" smtClean="0"/>
              <a:t>Graph G</a:t>
            </a:r>
            <a:r>
              <a:rPr lang="en-GB" dirty="0" smtClean="0"/>
              <a:t> </a:t>
            </a:r>
            <a:r>
              <a:rPr lang="en-GB" b="1" dirty="0" smtClean="0"/>
              <a:t>is bipartite </a:t>
            </a:r>
            <a:r>
              <a:rPr lang="en-GB" dirty="0" smtClean="0"/>
              <a:t>because its vertex set is the union of two disjoint sets, {a, b, d} and {c, e, f, g}, and each edge connects a vertex in one of these subsets to a vertex in the other subset. (Note that for G to be bipartite it is not necessary that every vertex in {a, b, d} be adjacent</a:t>
            </a:r>
          </a:p>
          <a:p>
            <a:r>
              <a:rPr lang="en-GB" dirty="0" smtClean="0"/>
              <a:t>to every vertex in {c, e, f, g}. For instance, b and g are not adjacent.)</a:t>
            </a:r>
          </a:p>
          <a:p>
            <a:endParaRPr lang="en-GB" dirty="0" smtClean="0"/>
          </a:p>
          <a:p>
            <a:r>
              <a:rPr lang="en-GB" b="1" dirty="0" smtClean="0"/>
              <a:t>Graph H</a:t>
            </a:r>
            <a:r>
              <a:rPr lang="en-GB" dirty="0" smtClean="0"/>
              <a:t> </a:t>
            </a:r>
            <a:r>
              <a:rPr lang="en-GB" b="1" dirty="0" smtClean="0"/>
              <a:t>is not bipartite </a:t>
            </a:r>
            <a:r>
              <a:rPr lang="en-GB" dirty="0" smtClean="0"/>
              <a:t>because its vertex set cannot be partitioned into two subsets so that edges do not connect two vertices from the same subset. </a:t>
            </a:r>
            <a:endParaRPr lang="en-IN" dirty="0"/>
          </a:p>
        </p:txBody>
      </p:sp>
    </p:spTree>
    <p:extLst>
      <p:ext uri="{BB962C8B-B14F-4D97-AF65-F5344CB8AC3E}">
        <p14:creationId xmlns:p14="http://schemas.microsoft.com/office/powerpoint/2010/main" val="1937216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t>Complete Bipartite Graphs</a:t>
            </a:r>
            <a:endParaRPr lang="en-IN" sz="3600" dirty="0"/>
          </a:p>
        </p:txBody>
      </p:sp>
      <p:sp>
        <p:nvSpPr>
          <p:cNvPr id="3" name="Content Placeholder 2"/>
          <p:cNvSpPr>
            <a:spLocks noGrp="1"/>
          </p:cNvSpPr>
          <p:nvPr>
            <p:ph idx="1"/>
          </p:nvPr>
        </p:nvSpPr>
        <p:spPr/>
        <p:txBody>
          <a:bodyPr>
            <a:normAutofit/>
          </a:bodyPr>
          <a:lstStyle/>
          <a:p>
            <a:r>
              <a:rPr lang="en-GB" sz="2800" dirty="0" smtClean="0"/>
              <a:t>A complete bipartite graph </a:t>
            </a:r>
            <a:r>
              <a:rPr lang="en-GB" sz="2800" i="1" dirty="0" err="1" smtClean="0"/>
              <a:t>K</a:t>
            </a:r>
            <a:r>
              <a:rPr lang="en-GB" sz="2800" i="1" baseline="-25000" dirty="0" err="1" smtClean="0"/>
              <a:t>m,n</a:t>
            </a:r>
            <a:r>
              <a:rPr lang="en-GB" sz="2800" dirty="0" smtClean="0"/>
              <a:t> is a graph that has its vertex set partitioned into two subsets of m and n vertices, respectively with an edge between two vertices if and only if one vertex is in the first subset and the other vertex is in the second subset.</a:t>
            </a:r>
            <a:endParaRPr lang="en-IN" sz="2800"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36" y="3861048"/>
            <a:ext cx="631666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084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Regular Graph</a:t>
            </a:r>
            <a:endParaRPr lang="en-IN" dirty="0"/>
          </a:p>
        </p:txBody>
      </p:sp>
      <p:sp>
        <p:nvSpPr>
          <p:cNvPr id="3" name="Content Placeholder 2"/>
          <p:cNvSpPr>
            <a:spLocks noGrp="1"/>
          </p:cNvSpPr>
          <p:nvPr>
            <p:ph idx="1"/>
          </p:nvPr>
        </p:nvSpPr>
        <p:spPr/>
        <p:txBody>
          <a:bodyPr>
            <a:normAutofit/>
          </a:bodyPr>
          <a:lstStyle/>
          <a:p>
            <a:r>
              <a:rPr lang="en-GB" sz="2400" dirty="0" smtClean="0"/>
              <a:t>A simple graph is called regular if </a:t>
            </a:r>
            <a:r>
              <a:rPr lang="en-GB" sz="2400" dirty="0" smtClean="0">
                <a:solidFill>
                  <a:srgbClr val="FF0000"/>
                </a:solidFill>
              </a:rPr>
              <a:t>every vertex of this graph has the same degree</a:t>
            </a:r>
            <a:r>
              <a:rPr lang="en-GB" sz="2400" dirty="0" smtClean="0"/>
              <a:t>. </a:t>
            </a:r>
          </a:p>
          <a:p>
            <a:r>
              <a:rPr lang="en-GB" sz="2400" dirty="0" smtClean="0"/>
              <a:t>A regular graph is called </a:t>
            </a:r>
            <a:r>
              <a:rPr lang="en-GB" sz="2400" dirty="0" smtClean="0">
                <a:solidFill>
                  <a:srgbClr val="FF0000"/>
                </a:solidFill>
              </a:rPr>
              <a:t>n-regular</a:t>
            </a:r>
            <a:r>
              <a:rPr lang="en-GB" sz="2400" dirty="0" smtClean="0"/>
              <a:t> if every vertex in this graph has degree n.</a:t>
            </a:r>
          </a:p>
          <a:p>
            <a:r>
              <a:rPr lang="en-GB" sz="2400" dirty="0" smtClean="0"/>
              <a:t>Ex. Complete graphs are always regular. In particular, </a:t>
            </a:r>
            <a:r>
              <a:rPr lang="en-GB" sz="2400" i="1" dirty="0" smtClean="0"/>
              <a:t>K</a:t>
            </a:r>
            <a:r>
              <a:rPr lang="en-GB" sz="2400" i="1" baseline="-25000" dirty="0" smtClean="0"/>
              <a:t>1</a:t>
            </a:r>
            <a:r>
              <a:rPr lang="en-GB" sz="2400" dirty="0" smtClean="0"/>
              <a:t> is 1-regular, </a:t>
            </a:r>
            <a:r>
              <a:rPr lang="en-GB" sz="2400" i="1" dirty="0" smtClean="0"/>
              <a:t>K</a:t>
            </a:r>
            <a:r>
              <a:rPr lang="en-GB" sz="2400" i="1" baseline="-25000" dirty="0" smtClean="0"/>
              <a:t>2</a:t>
            </a:r>
            <a:r>
              <a:rPr lang="en-GB" sz="2400" dirty="0" smtClean="0"/>
              <a:t> is 2-regular,  </a:t>
            </a:r>
            <a:r>
              <a:rPr lang="en-GB" sz="2400" i="1" dirty="0" smtClean="0"/>
              <a:t>K</a:t>
            </a:r>
            <a:r>
              <a:rPr lang="en-GB" sz="2400" i="1" baseline="-25000" dirty="0" smtClean="0"/>
              <a:t>3</a:t>
            </a:r>
            <a:r>
              <a:rPr lang="en-GB" sz="2400" dirty="0" smtClean="0"/>
              <a:t> is 3-regular, and so on….</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62" y="4365104"/>
            <a:ext cx="7497763"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972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Regular Graph</a:t>
            </a:r>
            <a:endParaRPr lang="en-IN" dirty="0"/>
          </a:p>
        </p:txBody>
      </p:sp>
      <p:sp>
        <p:nvSpPr>
          <p:cNvPr id="3" name="Content Placeholder 2"/>
          <p:cNvSpPr>
            <a:spLocks noGrp="1"/>
          </p:cNvSpPr>
          <p:nvPr>
            <p:ph idx="1"/>
          </p:nvPr>
        </p:nvSpPr>
        <p:spPr/>
        <p:txBody>
          <a:bodyPr>
            <a:normAutofit/>
          </a:bodyPr>
          <a:lstStyle/>
          <a:p>
            <a:r>
              <a:rPr lang="en-GB" sz="2400" dirty="0" smtClean="0"/>
              <a:t>Cycles are always regular.</a:t>
            </a:r>
          </a:p>
          <a:p>
            <a:r>
              <a:rPr lang="en-GB" sz="2400" dirty="0" smtClean="0"/>
              <a:t>In particular, cycles are 2-regular graphs because the degree of each vertex is 2.</a:t>
            </a:r>
            <a:endParaRPr lang="en-IN"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305" y="2989668"/>
            <a:ext cx="478155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5" name="Rectangle 4"/>
              <p:cNvSpPr/>
              <p:nvPr/>
            </p:nvSpPr>
            <p:spPr>
              <a:xfrm>
                <a:off x="899592" y="5157192"/>
                <a:ext cx="6696743" cy="1320811"/>
              </a:xfrm>
              <a:prstGeom prst="rect">
                <a:avLst/>
              </a:prstGeom>
            </p:spPr>
            <p:txBody>
              <a:bodyPr wrap="square">
                <a:spAutoFit/>
              </a:bodyPr>
              <a:lstStyle/>
              <a:p>
                <a:r>
                  <a:rPr lang="en-GB" b="1" dirty="0" smtClean="0"/>
                  <a:t>Que. </a:t>
                </a:r>
                <a:r>
                  <a:rPr lang="en-GB" dirty="0" smtClean="0"/>
                  <a:t>How many vertices does a regular graph of degree four</a:t>
                </a:r>
              </a:p>
              <a:p>
                <a:r>
                  <a:rPr lang="en-GB" dirty="0" smtClean="0"/>
                  <a:t>with 10 edges have?</a:t>
                </a:r>
              </a:p>
              <a:p>
                <a:r>
                  <a:rPr lang="en-GB" b="1" dirty="0" smtClean="0"/>
                  <a:t>Sol. </a:t>
                </a:r>
                <a:r>
                  <a:rPr lang="en-GB" dirty="0" smtClean="0"/>
                  <a:t>Here, </a:t>
                </a:r>
                <a:r>
                  <a:rPr lang="en-GB" i="1" dirty="0" smtClean="0"/>
                  <a:t>k </a:t>
                </a:r>
                <a:r>
                  <a:rPr lang="en-GB" dirty="0" smtClean="0"/>
                  <a:t>= 4, so </a:t>
                </a:r>
                <a14:m>
                  <m:oMath xmlns:m="http://schemas.openxmlformats.org/officeDocument/2006/math">
                    <m:f>
                      <m:fPr>
                        <m:ctrlPr>
                          <a:rPr lang="en-GB" i="1" smtClean="0">
                            <a:latin typeface="Cambria Math"/>
                          </a:rPr>
                        </m:ctrlPr>
                      </m:fPr>
                      <m:num>
                        <m:r>
                          <a:rPr lang="en-GB" b="0" i="1" smtClean="0">
                            <a:latin typeface="Cambria Math"/>
                          </a:rPr>
                          <m:t>𝑘𝑛</m:t>
                        </m:r>
                      </m:num>
                      <m:den>
                        <m:r>
                          <a:rPr lang="en-GB" b="0" i="1" smtClean="0">
                            <a:latin typeface="Cambria Math"/>
                          </a:rPr>
                          <m:t>2</m:t>
                        </m:r>
                      </m:den>
                    </m:f>
                  </m:oMath>
                </a14:m>
                <a:r>
                  <a:rPr lang="en-IN" dirty="0" smtClean="0"/>
                  <a:t>= 10 = </a:t>
                </a:r>
                <a14:m>
                  <m:oMath xmlns:m="http://schemas.openxmlformats.org/officeDocument/2006/math">
                    <m:f>
                      <m:fPr>
                        <m:ctrlPr>
                          <a:rPr lang="en-GB" i="1" smtClean="0">
                            <a:latin typeface="Cambria Math"/>
                          </a:rPr>
                        </m:ctrlPr>
                      </m:fPr>
                      <m:num>
                        <m:r>
                          <a:rPr lang="en-GB" b="0" i="1" smtClean="0">
                            <a:latin typeface="Cambria Math"/>
                          </a:rPr>
                          <m:t>4</m:t>
                        </m:r>
                        <m:r>
                          <a:rPr lang="en-GB" b="0" i="1" smtClean="0">
                            <a:latin typeface="Cambria Math"/>
                          </a:rPr>
                          <m:t>𝑛</m:t>
                        </m:r>
                      </m:num>
                      <m:den>
                        <m:r>
                          <a:rPr lang="en-GB" b="0" i="1" smtClean="0">
                            <a:latin typeface="Cambria Math"/>
                          </a:rPr>
                          <m:t>2</m:t>
                        </m:r>
                      </m:den>
                    </m:f>
                    <m:r>
                      <a:rPr lang="en-GB" b="0" i="0" smtClean="0">
                        <a:latin typeface="Cambria Math"/>
                      </a:rPr>
                      <m:t>.</m:t>
                    </m:r>
                  </m:oMath>
                </a14:m>
                <a:endParaRPr lang="en-GB" b="0" dirty="0" smtClean="0"/>
              </a:p>
              <a:p>
                <a:r>
                  <a:rPr lang="en-GB" dirty="0" smtClean="0"/>
                  <a:t>So, </a:t>
                </a:r>
                <a:r>
                  <a:rPr lang="en-GB" i="1" dirty="0" smtClean="0"/>
                  <a:t>n</a:t>
                </a:r>
                <a:r>
                  <a:rPr lang="en-GB" dirty="0" smtClean="0"/>
                  <a:t> = 5.</a:t>
                </a:r>
                <a:endParaRPr lang="en-IN" dirty="0"/>
              </a:p>
            </p:txBody>
          </p:sp>
        </mc:Choice>
        <mc:Fallback>
          <p:sp>
            <p:nvSpPr>
              <p:cNvPr id="5" name="Rectangle 4"/>
              <p:cNvSpPr>
                <a:spLocks noRot="1" noChangeAspect="1" noMove="1" noResize="1" noEditPoints="1" noAdjustHandles="1" noChangeArrowheads="1" noChangeShapeType="1" noTextEdit="1"/>
              </p:cNvSpPr>
              <p:nvPr/>
            </p:nvSpPr>
            <p:spPr>
              <a:xfrm>
                <a:off x="899592" y="5157192"/>
                <a:ext cx="6696743" cy="1320811"/>
              </a:xfrm>
              <a:prstGeom prst="rect">
                <a:avLst/>
              </a:prstGeom>
              <a:blipFill rotWithShape="1">
                <a:blip r:embed="rId3"/>
                <a:stretch>
                  <a:fillRect l="-820" t="-2304" b="-645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899592" y="4537276"/>
                <a:ext cx="7128792" cy="489814"/>
              </a:xfrm>
              <a:prstGeom prst="rect">
                <a:avLst/>
              </a:prstGeom>
            </p:spPr>
            <p:txBody>
              <a:bodyPr wrap="square">
                <a:spAutoFit/>
              </a:bodyPr>
              <a:lstStyle/>
              <a:p>
                <a:r>
                  <a:rPr lang="en-GB" b="1" dirty="0" smtClean="0">
                    <a:solidFill>
                      <a:srgbClr val="FF0000"/>
                    </a:solidFill>
                  </a:rPr>
                  <a:t>Result: </a:t>
                </a:r>
                <a:r>
                  <a:rPr lang="en-GB" dirty="0" smtClean="0"/>
                  <a:t>A regular graph of degree </a:t>
                </a:r>
                <a:r>
                  <a:rPr lang="en-GB" i="1" dirty="0" smtClean="0"/>
                  <a:t>k</a:t>
                </a:r>
                <a:r>
                  <a:rPr lang="en-GB" dirty="0" smtClean="0"/>
                  <a:t> </a:t>
                </a:r>
                <a:r>
                  <a:rPr lang="en-GB" dirty="0"/>
                  <a:t>with </a:t>
                </a:r>
                <a:r>
                  <a:rPr lang="en-GB" i="1" dirty="0" smtClean="0"/>
                  <a:t>n</a:t>
                </a:r>
                <a:r>
                  <a:rPr lang="en-GB" dirty="0" smtClean="0"/>
                  <a:t> </a:t>
                </a:r>
                <a:r>
                  <a:rPr lang="en-GB" dirty="0"/>
                  <a:t>vertices has </a:t>
                </a:r>
                <a14:m>
                  <m:oMath xmlns:m="http://schemas.openxmlformats.org/officeDocument/2006/math">
                    <m:f>
                      <m:fPr>
                        <m:ctrlPr>
                          <a:rPr lang="en-GB" i="1" smtClean="0">
                            <a:latin typeface="Cambria Math"/>
                          </a:rPr>
                        </m:ctrlPr>
                      </m:fPr>
                      <m:num>
                        <m:r>
                          <a:rPr lang="en-GB" b="0" i="1" smtClean="0">
                            <a:latin typeface="Cambria Math"/>
                          </a:rPr>
                          <m:t>𝑘𝑛</m:t>
                        </m:r>
                      </m:num>
                      <m:den>
                        <m:r>
                          <a:rPr lang="en-GB" b="0" i="1" smtClean="0">
                            <a:latin typeface="Cambria Math"/>
                          </a:rPr>
                          <m:t>2</m:t>
                        </m:r>
                      </m:den>
                    </m:f>
                  </m:oMath>
                </a14:m>
                <a:r>
                  <a:rPr lang="en-GB" dirty="0" smtClean="0"/>
                  <a:t> </a:t>
                </a:r>
                <a:r>
                  <a:rPr lang="en-GB" dirty="0"/>
                  <a:t>edges.</a:t>
                </a:r>
                <a:endParaRPr lang="en-IN" dirty="0"/>
              </a:p>
            </p:txBody>
          </p:sp>
        </mc:Choice>
        <mc:Fallback>
          <p:sp>
            <p:nvSpPr>
              <p:cNvPr id="6" name="Rectangle 5"/>
              <p:cNvSpPr>
                <a:spLocks noRot="1" noChangeAspect="1" noMove="1" noResize="1" noEditPoints="1" noAdjustHandles="1" noChangeArrowheads="1" noChangeShapeType="1" noTextEdit="1"/>
              </p:cNvSpPr>
              <p:nvPr/>
            </p:nvSpPr>
            <p:spPr>
              <a:xfrm>
                <a:off x="899592" y="4537276"/>
                <a:ext cx="7128792" cy="489814"/>
              </a:xfrm>
              <a:prstGeom prst="rect">
                <a:avLst/>
              </a:prstGeom>
              <a:blipFill rotWithShape="1">
                <a:blip r:embed="rId4"/>
                <a:stretch>
                  <a:fillRect l="-770" b="-7407"/>
                </a:stretch>
              </a:blipFill>
            </p:spPr>
            <p:txBody>
              <a:bodyPr/>
              <a:lstStyle/>
              <a:p>
                <a:r>
                  <a:rPr lang="en-IN">
                    <a:noFill/>
                  </a:rPr>
                  <a:t> </a:t>
                </a:r>
              </a:p>
            </p:txBody>
          </p:sp>
        </mc:Fallback>
      </mc:AlternateContent>
    </p:spTree>
    <p:extLst>
      <p:ext uri="{BB962C8B-B14F-4D97-AF65-F5344CB8AC3E}">
        <p14:creationId xmlns:p14="http://schemas.microsoft.com/office/powerpoint/2010/main" val="3460420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Handshaking Theorem for Bipartite </a:t>
            </a:r>
            <a:r>
              <a:rPr lang="en-GB" b="1" dirty="0" smtClean="0"/>
              <a:t>Graphs</a:t>
            </a:r>
            <a:endParaRPr lang="en-I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GB" dirty="0" smtClean="0"/>
                  <a:t>In a bipartite graph, </a:t>
                </a:r>
                <a:r>
                  <a:rPr lang="en-GB" dirty="0"/>
                  <a:t>the sum of the degrees of vertices in one set is equal to the sum of the degrees of vertices in the other </a:t>
                </a:r>
                <a:r>
                  <a:rPr lang="en-GB" dirty="0" smtClean="0"/>
                  <a:t>set.</a:t>
                </a:r>
              </a:p>
              <a:p>
                <a:pPr marL="0" indent="0">
                  <a:buNone/>
                </a:pPr>
                <a14:m>
                  <m:oMathPara xmlns:m="http://schemas.openxmlformats.org/officeDocument/2006/math">
                    <m:oMathParaPr>
                      <m:jc m:val="center"/>
                    </m:oMathParaPr>
                    <m:oMath xmlns:m="http://schemas.openxmlformats.org/officeDocument/2006/math">
                      <m:nary>
                        <m:naryPr>
                          <m:chr m:val="∑"/>
                          <m:supHide m:val="on"/>
                          <m:ctrlPr>
                            <a:rPr lang="en-IN" i="1" smtClean="0">
                              <a:latin typeface="Cambria Math"/>
                            </a:rPr>
                          </m:ctrlPr>
                        </m:naryPr>
                        <m:sub>
                          <m:r>
                            <m:rPr>
                              <m:brk m:alnAt="7"/>
                            </m:rPr>
                            <a:rPr lang="en-GB" b="0" i="1" smtClean="0">
                              <a:latin typeface="Cambria Math"/>
                            </a:rPr>
                            <m:t>𝑣</m:t>
                          </m:r>
                          <m:r>
                            <a:rPr lang="en-GB" b="0" i="1" smtClean="0">
                              <a:latin typeface="Cambria Math"/>
                              <a:ea typeface="Cambria Math"/>
                            </a:rPr>
                            <m:t>∈</m:t>
                          </m:r>
                          <m:r>
                            <a:rPr lang="en-GB" b="0" i="1" smtClean="0">
                              <a:latin typeface="Cambria Math"/>
                              <a:ea typeface="Cambria Math"/>
                            </a:rPr>
                            <m:t>𝐴</m:t>
                          </m:r>
                        </m:sub>
                        <m:sup/>
                        <m:e>
                          <m:func>
                            <m:funcPr>
                              <m:ctrlPr>
                                <a:rPr lang="en-GB" b="0" i="1" smtClean="0">
                                  <a:latin typeface="Cambria Math"/>
                                </a:rPr>
                              </m:ctrlPr>
                            </m:funcPr>
                            <m:fName>
                              <m:r>
                                <m:rPr>
                                  <m:sty m:val="p"/>
                                </m:rPr>
                                <a:rPr lang="en-GB" b="0" i="0" smtClean="0">
                                  <a:latin typeface="Cambria Math"/>
                                </a:rPr>
                                <m:t>deg</m:t>
                              </m:r>
                            </m:fName>
                            <m:e>
                              <m:d>
                                <m:dPr>
                                  <m:ctrlPr>
                                    <a:rPr lang="en-GB" b="0" i="1" smtClean="0">
                                      <a:latin typeface="Cambria Math"/>
                                    </a:rPr>
                                  </m:ctrlPr>
                                </m:dPr>
                                <m:e>
                                  <m:r>
                                    <a:rPr lang="en-GB" b="0" i="1" smtClean="0">
                                      <a:latin typeface="Cambria Math"/>
                                    </a:rPr>
                                    <m:t>𝑣</m:t>
                                  </m:r>
                                </m:e>
                              </m:d>
                            </m:e>
                          </m:func>
                          <m:r>
                            <a:rPr lang="en-GB" b="0" i="1" smtClean="0">
                              <a:latin typeface="Cambria Math"/>
                            </a:rPr>
                            <m:t>=</m:t>
                          </m:r>
                          <m:nary>
                            <m:naryPr>
                              <m:chr m:val="∑"/>
                              <m:supHide m:val="on"/>
                              <m:ctrlPr>
                                <a:rPr lang="en-IN" i="1" smtClean="0">
                                  <a:latin typeface="Cambria Math"/>
                                </a:rPr>
                              </m:ctrlPr>
                            </m:naryPr>
                            <m:sub>
                              <m:r>
                                <m:rPr>
                                  <m:brk m:alnAt="7"/>
                                </m:rPr>
                                <a:rPr lang="en-GB" b="0" i="1" smtClean="0">
                                  <a:latin typeface="Cambria Math"/>
                                </a:rPr>
                                <m:t>𝑣</m:t>
                              </m:r>
                              <m:r>
                                <a:rPr lang="en-GB" b="0" i="1" smtClean="0">
                                  <a:latin typeface="Cambria Math"/>
                                  <a:ea typeface="Cambria Math"/>
                                </a:rPr>
                                <m:t>∈</m:t>
                              </m:r>
                              <m:r>
                                <a:rPr lang="en-GB" b="0" i="1" smtClean="0">
                                  <a:latin typeface="Cambria Math"/>
                                  <a:ea typeface="Cambria Math"/>
                                </a:rPr>
                                <m:t>𝐵</m:t>
                              </m:r>
                            </m:sub>
                            <m:sup/>
                            <m:e>
                              <m:r>
                                <m:rPr>
                                  <m:sty m:val="p"/>
                                </m:rPr>
                                <a:rPr lang="en-GB" b="0" i="0" smtClean="0">
                                  <a:latin typeface="Cambria Math"/>
                                </a:rPr>
                                <m:t>deg</m:t>
                              </m:r>
                              <m:r>
                                <a:rPr lang="en-GB" b="0" i="1" smtClean="0">
                                  <a:latin typeface="Cambria Math"/>
                                </a:rPr>
                                <m:t>⁡(</m:t>
                              </m:r>
                              <m:r>
                                <a:rPr lang="en-GB" b="0" i="1" smtClean="0">
                                  <a:latin typeface="Cambria Math"/>
                                </a:rPr>
                                <m:t>𝑣</m:t>
                              </m:r>
                              <m:r>
                                <a:rPr lang="en-GB" b="0" i="1" smtClean="0">
                                  <a:latin typeface="Cambria Math"/>
                                </a:rPr>
                                <m:t>)</m:t>
                              </m:r>
                            </m:e>
                          </m:nary>
                        </m:e>
                      </m:nary>
                    </m:oMath>
                  </m:oMathPara>
                </a14:m>
                <a:endParaRPr lang="en-IN" dirty="0" smtClean="0"/>
              </a:p>
              <a:p>
                <a:pPr marL="0" indent="0">
                  <a:buNone/>
                </a:pPr>
                <a:r>
                  <a:rPr lang="en-GB" dirty="0" smtClean="0"/>
                  <a:t>Where, A and B are the disjoint sets </a:t>
                </a:r>
                <a:r>
                  <a:rPr lang="en-GB" dirty="0"/>
                  <a:t>of vertices in the bipartite graph.</a:t>
                </a:r>
                <a:endParaRPr lang="en-I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r="-1704"/>
                </a:stretch>
              </a:blipFill>
            </p:spPr>
            <p:txBody>
              <a:bodyPr/>
              <a:lstStyle/>
              <a:p>
                <a:r>
                  <a:rPr lang="en-IN">
                    <a:noFill/>
                  </a:rPr>
                  <a:t> </a:t>
                </a:r>
              </a:p>
            </p:txBody>
          </p:sp>
        </mc:Fallback>
      </mc:AlternateContent>
    </p:spTree>
    <p:extLst>
      <p:ext uri="{BB962C8B-B14F-4D97-AF65-F5344CB8AC3E}">
        <p14:creationId xmlns:p14="http://schemas.microsoft.com/office/powerpoint/2010/main" val="28684478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Representation of Graphs</a:t>
            </a:r>
            <a:endParaRPr lang="en-IN" dirty="0"/>
          </a:p>
        </p:txBody>
      </p:sp>
      <p:sp>
        <p:nvSpPr>
          <p:cNvPr id="3" name="Content Placeholder 2"/>
          <p:cNvSpPr>
            <a:spLocks noGrp="1"/>
          </p:cNvSpPr>
          <p:nvPr>
            <p:ph idx="1"/>
          </p:nvPr>
        </p:nvSpPr>
        <p:spPr/>
        <p:txBody>
          <a:bodyPr/>
          <a:lstStyle/>
          <a:p>
            <a:r>
              <a:rPr lang="en-GB" dirty="0" smtClean="0">
                <a:solidFill>
                  <a:srgbClr val="FF0000"/>
                </a:solidFill>
              </a:rPr>
              <a:t>Adjacency List: </a:t>
            </a:r>
            <a:r>
              <a:rPr lang="en-GB" dirty="0" smtClean="0"/>
              <a:t>It is a way to represent a graph with no multiple edges, which specify the vertices that are adjacent to each vertex of the graph.</a:t>
            </a:r>
            <a:endParaRPr lang="en-IN"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005064"/>
            <a:ext cx="6592887"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289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Representation of Graphs</a:t>
            </a:r>
            <a:endParaRPr lang="en-IN" dirty="0"/>
          </a:p>
        </p:txBody>
      </p:sp>
      <p:sp>
        <p:nvSpPr>
          <p:cNvPr id="3" name="Content Placeholder 2"/>
          <p:cNvSpPr>
            <a:spLocks noGrp="1"/>
          </p:cNvSpPr>
          <p:nvPr>
            <p:ph idx="1"/>
          </p:nvPr>
        </p:nvSpPr>
        <p:spPr/>
        <p:txBody>
          <a:bodyPr/>
          <a:lstStyle/>
          <a:p>
            <a:r>
              <a:rPr lang="en-GB" dirty="0" smtClean="0">
                <a:solidFill>
                  <a:srgbClr val="FF0000"/>
                </a:solidFill>
              </a:rPr>
              <a:t>Adjacency list for Directed Graph:</a:t>
            </a:r>
          </a:p>
          <a:p>
            <a:endParaRPr lang="en-IN"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811" y="3068960"/>
            <a:ext cx="6411913"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1253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Adjacency Matrices</a:t>
            </a:r>
            <a:endParaRPr lang="en-IN" dirty="0"/>
          </a:p>
        </p:txBody>
      </p:sp>
      <p:sp>
        <p:nvSpPr>
          <p:cNvPr id="3" name="Content Placeholder 2"/>
          <p:cNvSpPr>
            <a:spLocks noGrp="1"/>
          </p:cNvSpPr>
          <p:nvPr>
            <p:ph idx="1"/>
          </p:nvPr>
        </p:nvSpPr>
        <p:spPr/>
        <p:txBody>
          <a:bodyPr>
            <a:normAutofit/>
          </a:bodyPr>
          <a:lstStyle/>
          <a:p>
            <a:r>
              <a:rPr lang="en-GB" sz="2400" dirty="0" smtClean="0"/>
              <a:t>Suppose that G = (V, E) is a simple graph where |V| = n. </a:t>
            </a:r>
          </a:p>
          <a:p>
            <a:r>
              <a:rPr lang="en-GB" sz="2400" dirty="0" smtClean="0"/>
              <a:t>Suppose that the vertices of G are listed arbitrarily as v</a:t>
            </a:r>
            <a:r>
              <a:rPr lang="en-GB" sz="2400" baseline="-25000" dirty="0" smtClean="0"/>
              <a:t>1</a:t>
            </a:r>
            <a:r>
              <a:rPr lang="en-GB" sz="2400" dirty="0" smtClean="0"/>
              <a:t>, v</a:t>
            </a:r>
            <a:r>
              <a:rPr lang="en-GB" sz="2400" baseline="-25000" dirty="0" smtClean="0"/>
              <a:t>2</a:t>
            </a:r>
            <a:r>
              <a:rPr lang="en-GB" sz="2400" dirty="0" smtClean="0"/>
              <a:t>, . . . , </a:t>
            </a:r>
            <a:r>
              <a:rPr lang="en-GB" sz="2400" dirty="0" err="1" smtClean="0"/>
              <a:t>v</a:t>
            </a:r>
            <a:r>
              <a:rPr lang="en-GB" sz="2400" baseline="-25000" dirty="0" err="1" smtClean="0"/>
              <a:t>n</a:t>
            </a:r>
            <a:r>
              <a:rPr lang="en-GB" sz="2400" dirty="0" smtClean="0"/>
              <a:t>. </a:t>
            </a:r>
          </a:p>
          <a:p>
            <a:r>
              <a:rPr lang="en-GB" sz="2400" dirty="0" smtClean="0"/>
              <a:t>The </a:t>
            </a:r>
            <a:r>
              <a:rPr lang="en-GB" sz="2400" dirty="0" smtClean="0">
                <a:solidFill>
                  <a:srgbClr val="FF0000"/>
                </a:solidFill>
              </a:rPr>
              <a:t>adjacency matrix </a:t>
            </a:r>
            <a:r>
              <a:rPr lang="en-GB" sz="2400" dirty="0" smtClean="0"/>
              <a:t>A (or A</a:t>
            </a:r>
            <a:r>
              <a:rPr lang="en-GB" sz="2400" baseline="-25000" dirty="0" smtClean="0"/>
              <a:t>G</a:t>
            </a:r>
            <a:r>
              <a:rPr lang="en-GB" sz="2400" dirty="0" smtClean="0"/>
              <a:t>) of G, with respect to this listing of the vertices, is the (n x n) zero–one matrix with 1 as its (i, j)</a:t>
            </a:r>
            <a:r>
              <a:rPr lang="en-GB" sz="2400" dirty="0" err="1" smtClean="0"/>
              <a:t>th</a:t>
            </a:r>
            <a:r>
              <a:rPr lang="en-GB" sz="2400" dirty="0" smtClean="0"/>
              <a:t> entry when v</a:t>
            </a:r>
            <a:r>
              <a:rPr lang="en-GB" sz="2400" baseline="-25000" dirty="0" smtClean="0"/>
              <a:t>i</a:t>
            </a:r>
            <a:r>
              <a:rPr lang="en-GB" sz="2400" dirty="0" smtClean="0"/>
              <a:t> and </a:t>
            </a:r>
            <a:r>
              <a:rPr lang="en-GB" sz="2400" dirty="0" err="1" smtClean="0"/>
              <a:t>v</a:t>
            </a:r>
            <a:r>
              <a:rPr lang="en-GB" sz="2400" baseline="-25000" dirty="0" err="1" smtClean="0"/>
              <a:t>j</a:t>
            </a:r>
            <a:r>
              <a:rPr lang="en-GB" sz="2400" dirty="0" smtClean="0"/>
              <a:t> are adjacent, and 0 as its (i, j)</a:t>
            </a:r>
            <a:r>
              <a:rPr lang="en-GB" sz="2400" dirty="0" err="1" smtClean="0"/>
              <a:t>th</a:t>
            </a:r>
            <a:r>
              <a:rPr lang="en-GB" sz="2400" dirty="0" smtClean="0"/>
              <a:t> entry when they are not adjacent.</a:t>
            </a:r>
            <a:endParaRPr lang="en-IN" sz="24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4905164"/>
            <a:ext cx="3649813"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0043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Adjacency matrices</a:t>
            </a:r>
            <a:endParaRPr lang="en-IN" dirty="0"/>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916832"/>
            <a:ext cx="1362265" cy="1390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79" y="4225716"/>
            <a:ext cx="52673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0966" y="2060848"/>
            <a:ext cx="142875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6288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Adjacency Matrices for Simple Graphs</a:t>
            </a:r>
            <a:endParaRPr lang="en-IN" dirty="0"/>
          </a:p>
        </p:txBody>
      </p:sp>
      <p:sp>
        <p:nvSpPr>
          <p:cNvPr id="3" name="Content Placeholder 2"/>
          <p:cNvSpPr>
            <a:spLocks noGrp="1"/>
          </p:cNvSpPr>
          <p:nvPr>
            <p:ph idx="1"/>
          </p:nvPr>
        </p:nvSpPr>
        <p:spPr/>
        <p:txBody>
          <a:bodyPr>
            <a:normAutofit fontScale="92500"/>
          </a:bodyPr>
          <a:lstStyle/>
          <a:p>
            <a:r>
              <a:rPr lang="en-GB" dirty="0" smtClean="0"/>
              <a:t>There may be as many as </a:t>
            </a:r>
            <a:r>
              <a:rPr lang="en-GB" dirty="0" smtClean="0">
                <a:solidFill>
                  <a:srgbClr val="FF0000"/>
                </a:solidFill>
              </a:rPr>
              <a:t>n! different adjacency matrices</a:t>
            </a:r>
            <a:r>
              <a:rPr lang="en-GB" dirty="0" smtClean="0"/>
              <a:t> for a graph with n vertices, because there are n! different orderings of n vertices.</a:t>
            </a:r>
          </a:p>
          <a:p>
            <a:r>
              <a:rPr lang="en-GB" dirty="0" smtClean="0">
                <a:solidFill>
                  <a:srgbClr val="FF0000"/>
                </a:solidFill>
              </a:rPr>
              <a:t>The adjacency matrix of a simple graph is symmetric</a:t>
            </a:r>
            <a:r>
              <a:rPr lang="en-GB" dirty="0" smtClean="0"/>
              <a:t>, that is, </a:t>
            </a:r>
            <a:r>
              <a:rPr lang="en-GB" dirty="0" err="1" smtClean="0"/>
              <a:t>a</a:t>
            </a:r>
            <a:r>
              <a:rPr lang="en-GB" baseline="-25000" dirty="0" err="1" smtClean="0"/>
              <a:t>ij</a:t>
            </a:r>
            <a:r>
              <a:rPr lang="en-GB" dirty="0" smtClean="0"/>
              <a:t> = </a:t>
            </a:r>
            <a:r>
              <a:rPr lang="en-GB" dirty="0" err="1" smtClean="0"/>
              <a:t>a</a:t>
            </a:r>
            <a:r>
              <a:rPr lang="en-GB" baseline="-25000" dirty="0" err="1" smtClean="0"/>
              <a:t>ji</a:t>
            </a:r>
            <a:r>
              <a:rPr lang="en-GB" dirty="0" smtClean="0"/>
              <a:t>, because both of these entries are 1 when vi and </a:t>
            </a:r>
            <a:r>
              <a:rPr lang="en-GB" dirty="0" err="1" smtClean="0"/>
              <a:t>vj</a:t>
            </a:r>
            <a:r>
              <a:rPr lang="en-GB" dirty="0" smtClean="0"/>
              <a:t> are adjacent, and both are 0 otherwise. </a:t>
            </a:r>
          </a:p>
          <a:p>
            <a:r>
              <a:rPr lang="en-GB" dirty="0" smtClean="0"/>
              <a:t>Simple graph has no loops, so each entry </a:t>
            </a:r>
            <a:r>
              <a:rPr lang="en-GB" dirty="0" err="1" smtClean="0">
                <a:solidFill>
                  <a:srgbClr val="FF0000"/>
                </a:solidFill>
              </a:rPr>
              <a:t>a</a:t>
            </a:r>
            <a:r>
              <a:rPr lang="en-GB" baseline="-25000" dirty="0" err="1" smtClean="0">
                <a:solidFill>
                  <a:srgbClr val="FF0000"/>
                </a:solidFill>
              </a:rPr>
              <a:t>ii</a:t>
            </a:r>
            <a:r>
              <a:rPr lang="en-GB" dirty="0" smtClean="0">
                <a:solidFill>
                  <a:srgbClr val="FF0000"/>
                </a:solidFill>
              </a:rPr>
              <a:t> = 0</a:t>
            </a:r>
            <a:r>
              <a:rPr lang="en-GB" dirty="0" smtClean="0">
                <a:solidFill>
                  <a:srgbClr val="FF0000"/>
                </a:solidFill>
              </a:rPr>
              <a:t> </a:t>
            </a:r>
            <a:r>
              <a:rPr lang="en-GB" dirty="0" smtClean="0"/>
              <a:t>, i = 1, 2, 3, . . . , n</a:t>
            </a:r>
            <a:r>
              <a:rPr lang="en-GB" dirty="0" smtClean="0"/>
              <a:t>.</a:t>
            </a:r>
            <a:endParaRPr lang="en-IN" dirty="0"/>
          </a:p>
        </p:txBody>
      </p:sp>
    </p:spTree>
    <p:extLst>
      <p:ext uri="{BB962C8B-B14F-4D97-AF65-F5344CB8AC3E}">
        <p14:creationId xmlns:p14="http://schemas.microsoft.com/office/powerpoint/2010/main" val="638134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Adjacency Matrix for Multi-graphs</a:t>
            </a:r>
            <a:endParaRPr lang="en-IN" dirty="0"/>
          </a:p>
        </p:txBody>
      </p:sp>
      <p:sp>
        <p:nvSpPr>
          <p:cNvPr id="3" name="Content Placeholder 2"/>
          <p:cNvSpPr>
            <a:spLocks noGrp="1"/>
          </p:cNvSpPr>
          <p:nvPr>
            <p:ph idx="1"/>
          </p:nvPr>
        </p:nvSpPr>
        <p:spPr/>
        <p:txBody>
          <a:bodyPr>
            <a:normAutofit/>
          </a:bodyPr>
          <a:lstStyle/>
          <a:p>
            <a:r>
              <a:rPr lang="en-GB" sz="2000" dirty="0" smtClean="0"/>
              <a:t>Adjacency matrices can also be used to represent undirected graphs with loops and with multiple edges.</a:t>
            </a:r>
          </a:p>
          <a:p>
            <a:r>
              <a:rPr lang="en-GB" sz="2000" dirty="0" smtClean="0"/>
              <a:t>A loop at the vertex vi is represented by a 1 at the (i, i)</a:t>
            </a:r>
            <a:r>
              <a:rPr lang="en-GB" sz="2000" dirty="0" err="1" smtClean="0"/>
              <a:t>th</a:t>
            </a:r>
            <a:r>
              <a:rPr lang="en-GB" sz="2000" dirty="0" smtClean="0"/>
              <a:t> position of the adjacency matrix.</a:t>
            </a:r>
          </a:p>
          <a:p>
            <a:r>
              <a:rPr lang="en-GB" sz="2000" dirty="0" smtClean="0"/>
              <a:t>When multiple edges connecting the same pair of vertices vi and </a:t>
            </a:r>
            <a:r>
              <a:rPr lang="en-GB" sz="2000" dirty="0" err="1" smtClean="0"/>
              <a:t>vj</a:t>
            </a:r>
            <a:r>
              <a:rPr lang="en-GB" sz="2000" dirty="0" smtClean="0"/>
              <a:t>, or multiple loops at the same vertex, are present, the adjacency matrix is no longer a zero–one matrix, because the (i, j)</a:t>
            </a:r>
            <a:r>
              <a:rPr lang="en-GB" sz="2000" dirty="0" err="1" smtClean="0"/>
              <a:t>th</a:t>
            </a:r>
            <a:r>
              <a:rPr lang="en-GB" sz="2000" dirty="0" smtClean="0"/>
              <a:t> entry of this matrix equals the number of edges that are associated to {vi, </a:t>
            </a:r>
            <a:r>
              <a:rPr lang="en-GB" sz="2000" dirty="0" err="1" smtClean="0"/>
              <a:t>vj</a:t>
            </a:r>
            <a:r>
              <a:rPr lang="en-GB" sz="2000" dirty="0" smtClean="0"/>
              <a:t>}.</a:t>
            </a:r>
          </a:p>
          <a:p>
            <a:endParaRPr lang="en-IN" sz="2000"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088" y="4725144"/>
            <a:ext cx="7002463"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887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Adjacency Matrix for Directed Graph</a:t>
            </a:r>
            <a:endParaRPr lang="en-IN" dirty="0"/>
          </a:p>
        </p:txBody>
      </p:sp>
      <p:sp>
        <p:nvSpPr>
          <p:cNvPr id="3" name="Content Placeholder 2"/>
          <p:cNvSpPr>
            <a:spLocks noGrp="1"/>
          </p:cNvSpPr>
          <p:nvPr>
            <p:ph idx="1"/>
          </p:nvPr>
        </p:nvSpPr>
        <p:spPr/>
        <p:txBody>
          <a:bodyPr/>
          <a:lstStyle/>
          <a:p>
            <a:r>
              <a:rPr lang="en-GB" dirty="0" smtClean="0"/>
              <a:t>The matrix for a directed graph G = (V, E) has a 1 in its (i, j)</a:t>
            </a:r>
            <a:r>
              <a:rPr lang="en-GB" dirty="0" err="1" smtClean="0"/>
              <a:t>th</a:t>
            </a:r>
            <a:r>
              <a:rPr lang="en-GB" dirty="0" smtClean="0"/>
              <a:t> position if there is an edge from v</a:t>
            </a:r>
            <a:r>
              <a:rPr lang="en-GB" baseline="-25000" dirty="0" smtClean="0"/>
              <a:t>i</a:t>
            </a:r>
            <a:r>
              <a:rPr lang="en-GB" dirty="0" smtClean="0"/>
              <a:t> to </a:t>
            </a:r>
            <a:r>
              <a:rPr lang="en-GB" dirty="0" err="1" smtClean="0"/>
              <a:t>v</a:t>
            </a:r>
            <a:r>
              <a:rPr lang="en-GB" baseline="-25000" dirty="0" err="1" smtClean="0"/>
              <a:t>j</a:t>
            </a:r>
            <a:r>
              <a:rPr lang="en-GB" dirty="0" smtClean="0"/>
              <a:t>, where v</a:t>
            </a:r>
            <a:r>
              <a:rPr lang="en-GB" baseline="-25000" dirty="0" smtClean="0"/>
              <a:t>1</a:t>
            </a:r>
            <a:r>
              <a:rPr lang="en-GB" dirty="0" smtClean="0"/>
              <a:t>, v</a:t>
            </a:r>
            <a:r>
              <a:rPr lang="en-GB" baseline="-25000" dirty="0" smtClean="0"/>
              <a:t>2</a:t>
            </a:r>
            <a:r>
              <a:rPr lang="en-GB" dirty="0" smtClean="0"/>
              <a:t>, . . . , </a:t>
            </a:r>
            <a:r>
              <a:rPr lang="en-GB" dirty="0" err="1" smtClean="0"/>
              <a:t>v</a:t>
            </a:r>
            <a:r>
              <a:rPr lang="en-GB" baseline="-25000" dirty="0" err="1" smtClean="0"/>
              <a:t>n</a:t>
            </a:r>
            <a:r>
              <a:rPr lang="en-GB" dirty="0" smtClean="0"/>
              <a:t> is an arbitrary listing of the vertices of the directed graph.</a:t>
            </a:r>
          </a:p>
          <a:p>
            <a:r>
              <a:rPr lang="en-GB" dirty="0" smtClean="0"/>
              <a:t>In other words, the adjacency matrix </a:t>
            </a:r>
            <a:r>
              <a:rPr lang="en-GB" dirty="0" smtClean="0"/>
              <a:t>A = [</a:t>
            </a:r>
            <a:r>
              <a:rPr lang="en-GB" dirty="0" err="1" smtClean="0"/>
              <a:t>a</a:t>
            </a:r>
            <a:r>
              <a:rPr lang="en-GB" baseline="-25000" dirty="0" err="1" smtClean="0"/>
              <a:t>ij</a:t>
            </a:r>
            <a:r>
              <a:rPr lang="en-GB" dirty="0" smtClean="0"/>
              <a:t>]</a:t>
            </a:r>
            <a:r>
              <a:rPr lang="en-IN" dirty="0" smtClean="0"/>
              <a:t> </a:t>
            </a:r>
            <a:r>
              <a:rPr lang="en-GB" dirty="0" smtClean="0"/>
              <a:t> for directed graph is</a:t>
            </a:r>
            <a:endParaRPr lang="en-IN"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797152"/>
            <a:ext cx="3672408"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7930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Adjacency Matrix for Directed Graph</a:t>
            </a:r>
            <a:endParaRPr lang="en-IN" dirty="0"/>
          </a:p>
        </p:txBody>
      </p:sp>
      <p:sp>
        <p:nvSpPr>
          <p:cNvPr id="3" name="Content Placeholder 2"/>
          <p:cNvSpPr>
            <a:spLocks noGrp="1"/>
          </p:cNvSpPr>
          <p:nvPr>
            <p:ph idx="1"/>
          </p:nvPr>
        </p:nvSpPr>
        <p:spPr/>
        <p:txBody>
          <a:bodyPr>
            <a:normAutofit fontScale="85000" lnSpcReduction="10000"/>
          </a:bodyPr>
          <a:lstStyle/>
          <a:p>
            <a:r>
              <a:rPr lang="en-GB" dirty="0" smtClean="0"/>
              <a:t>The adjacency matrix for a directed graph needs not have to be symmetric, because there may not be an edge from </a:t>
            </a:r>
            <a:r>
              <a:rPr lang="en-GB" dirty="0" err="1" smtClean="0"/>
              <a:t>v</a:t>
            </a:r>
            <a:r>
              <a:rPr lang="en-GB" baseline="-25000" dirty="0" err="1" smtClean="0"/>
              <a:t>j</a:t>
            </a:r>
            <a:r>
              <a:rPr lang="en-GB" dirty="0" smtClean="0"/>
              <a:t> to v</a:t>
            </a:r>
            <a:r>
              <a:rPr lang="en-GB" baseline="-25000" dirty="0" smtClean="0"/>
              <a:t>i</a:t>
            </a:r>
            <a:r>
              <a:rPr lang="en-GB" dirty="0" smtClean="0"/>
              <a:t> when there is an edge from v</a:t>
            </a:r>
            <a:r>
              <a:rPr lang="en-GB" baseline="-25000" dirty="0" smtClean="0"/>
              <a:t>i</a:t>
            </a:r>
            <a:r>
              <a:rPr lang="en-GB" dirty="0" smtClean="0"/>
              <a:t> to </a:t>
            </a:r>
            <a:r>
              <a:rPr lang="en-GB" dirty="0" err="1" smtClean="0"/>
              <a:t>v</a:t>
            </a:r>
            <a:r>
              <a:rPr lang="en-GB" baseline="-25000" dirty="0" err="1" smtClean="0"/>
              <a:t>j</a:t>
            </a:r>
            <a:r>
              <a:rPr lang="en-GB" dirty="0" smtClean="0"/>
              <a:t>.</a:t>
            </a:r>
            <a:endParaRPr lang="en-IN" dirty="0" smtClean="0"/>
          </a:p>
          <a:p>
            <a:r>
              <a:rPr lang="en-GB" dirty="0" smtClean="0"/>
              <a:t>Adjacency matrices can also be used to represent directed multi-graphs. Again, such matrices are not zero–one matrices when there are multiple edges in the same direction connecting two vertices. </a:t>
            </a:r>
          </a:p>
          <a:p>
            <a:r>
              <a:rPr lang="en-GB" dirty="0" smtClean="0"/>
              <a:t>In the adjacency matrix for a directed multi-graph, </a:t>
            </a:r>
            <a:r>
              <a:rPr lang="en-GB" dirty="0" err="1" smtClean="0"/>
              <a:t>a</a:t>
            </a:r>
            <a:r>
              <a:rPr lang="en-GB" baseline="-25000" dirty="0" err="1" smtClean="0"/>
              <a:t>ij</a:t>
            </a:r>
            <a:r>
              <a:rPr lang="en-GB" dirty="0" smtClean="0"/>
              <a:t> equals the number of edges that are associated to (v</a:t>
            </a:r>
            <a:r>
              <a:rPr lang="en-GB" baseline="-25000" dirty="0" smtClean="0"/>
              <a:t>i</a:t>
            </a:r>
            <a:r>
              <a:rPr lang="en-GB" dirty="0" smtClean="0"/>
              <a:t>, </a:t>
            </a:r>
            <a:r>
              <a:rPr lang="en-GB" dirty="0" err="1" smtClean="0"/>
              <a:t>v</a:t>
            </a:r>
            <a:r>
              <a:rPr lang="en-GB" baseline="-25000" dirty="0" err="1" smtClean="0"/>
              <a:t>j</a:t>
            </a:r>
            <a:r>
              <a:rPr lang="en-GB" dirty="0" smtClean="0"/>
              <a:t>).</a:t>
            </a:r>
            <a:endParaRPr lang="en-IN" dirty="0"/>
          </a:p>
        </p:txBody>
      </p:sp>
    </p:spTree>
    <p:extLst>
      <p:ext uri="{BB962C8B-B14F-4D97-AF65-F5344CB8AC3E}">
        <p14:creationId xmlns:p14="http://schemas.microsoft.com/office/powerpoint/2010/main" val="3556005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Incidence Matrix</a:t>
            </a:r>
            <a:endParaRPr lang="en-IN" dirty="0"/>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1700808"/>
            <a:ext cx="6792273" cy="157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5050" y="4148454"/>
            <a:ext cx="45339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100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Incidence Matrix for Multi-graph and Pseudo-graph</a:t>
            </a:r>
            <a:endParaRPr lang="en-IN" dirty="0"/>
          </a:p>
        </p:txBody>
      </p:sp>
      <p:sp>
        <p:nvSpPr>
          <p:cNvPr id="3" name="Content Placeholder 2"/>
          <p:cNvSpPr>
            <a:spLocks noGrp="1"/>
          </p:cNvSpPr>
          <p:nvPr>
            <p:ph idx="1"/>
          </p:nvPr>
        </p:nvSpPr>
        <p:spPr/>
        <p:txBody>
          <a:bodyPr>
            <a:normAutofit/>
          </a:bodyPr>
          <a:lstStyle/>
          <a:p>
            <a:r>
              <a:rPr lang="en-GB" sz="2400" dirty="0" smtClean="0"/>
              <a:t>Multiple edges are represented in the incidence matrix using columns with identical entries, because these edges are incident with the same pair of vertices. </a:t>
            </a:r>
          </a:p>
          <a:p>
            <a:r>
              <a:rPr lang="en-GB" sz="2400" dirty="0" smtClean="0"/>
              <a:t>Loops are represented using a column with exactly one entry equal to 1, corresponding to the vertex that is incident with this loop.</a:t>
            </a:r>
            <a:endParaRPr lang="en-IN" sz="2400"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975" y="4442231"/>
            <a:ext cx="52197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2011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IN" dirty="0"/>
          </a:p>
        </p:txBody>
      </p:sp>
      <p:sp>
        <p:nvSpPr>
          <p:cNvPr id="3" name="Content Placeholder 2"/>
          <p:cNvSpPr>
            <a:spLocks noGrp="1"/>
          </p:cNvSpPr>
          <p:nvPr>
            <p:ph idx="1"/>
          </p:nvPr>
        </p:nvSpPr>
        <p:spPr/>
        <p:txBody>
          <a:bodyPr/>
          <a:lstStyle/>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r>
              <a:rPr lang="en-GB" sz="4800" dirty="0" smtClean="0"/>
              <a:t>CONNECTIVITY</a:t>
            </a:r>
            <a:endParaRPr lang="en-IN" sz="4800" dirty="0"/>
          </a:p>
        </p:txBody>
      </p:sp>
    </p:spTree>
    <p:extLst>
      <p:ext uri="{BB962C8B-B14F-4D97-AF65-F5344CB8AC3E}">
        <p14:creationId xmlns:p14="http://schemas.microsoft.com/office/powerpoint/2010/main" val="3611641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Path</a:t>
            </a:r>
            <a:endParaRPr lang="en-IN" dirty="0"/>
          </a:p>
        </p:txBody>
      </p:sp>
      <p:sp>
        <p:nvSpPr>
          <p:cNvPr id="3" name="Content Placeholder 2"/>
          <p:cNvSpPr>
            <a:spLocks noGrp="1"/>
          </p:cNvSpPr>
          <p:nvPr>
            <p:ph idx="1"/>
          </p:nvPr>
        </p:nvSpPr>
        <p:spPr/>
        <p:txBody>
          <a:bodyPr>
            <a:normAutofit fontScale="70000" lnSpcReduction="20000"/>
          </a:bodyPr>
          <a:lstStyle/>
          <a:p>
            <a:r>
              <a:rPr lang="en-GB" dirty="0"/>
              <a:t>A</a:t>
            </a:r>
            <a:r>
              <a:rPr lang="en-GB" dirty="0" smtClean="0"/>
              <a:t> path is a sequence of edges that begins at a vertex of a graph and travels from vertex to vertex along edges of the graph. </a:t>
            </a:r>
          </a:p>
          <a:p>
            <a:r>
              <a:rPr lang="en-GB" dirty="0" smtClean="0"/>
              <a:t>Let n be a nonnegative integer and G an undirected graph. A path of length n from u to v in G is a sequence of n edges e</a:t>
            </a:r>
            <a:r>
              <a:rPr lang="en-GB" baseline="-25000" dirty="0" smtClean="0"/>
              <a:t>1</a:t>
            </a:r>
            <a:r>
              <a:rPr lang="en-GB" dirty="0" smtClean="0"/>
              <a:t>, . . . , e</a:t>
            </a:r>
            <a:r>
              <a:rPr lang="en-GB" baseline="-25000" dirty="0" smtClean="0"/>
              <a:t>n</a:t>
            </a:r>
            <a:r>
              <a:rPr lang="en-GB" dirty="0" smtClean="0"/>
              <a:t> of G for which there exists a sequence x</a:t>
            </a:r>
            <a:r>
              <a:rPr lang="en-GB" baseline="-25000" dirty="0" smtClean="0"/>
              <a:t>0</a:t>
            </a:r>
            <a:r>
              <a:rPr lang="en-GB" dirty="0" smtClean="0"/>
              <a:t> = u, x</a:t>
            </a:r>
            <a:r>
              <a:rPr lang="en-GB" baseline="-25000" dirty="0" smtClean="0"/>
              <a:t>1</a:t>
            </a:r>
            <a:r>
              <a:rPr lang="en-GB" dirty="0" smtClean="0"/>
              <a:t>, . . . , x</a:t>
            </a:r>
            <a:r>
              <a:rPr lang="en-GB" baseline="-25000" dirty="0" smtClean="0"/>
              <a:t>n-1</a:t>
            </a:r>
            <a:r>
              <a:rPr lang="en-GB" dirty="0" smtClean="0"/>
              <a:t>, </a:t>
            </a:r>
            <a:r>
              <a:rPr lang="en-GB" dirty="0" err="1" smtClean="0"/>
              <a:t>x</a:t>
            </a:r>
            <a:r>
              <a:rPr lang="en-GB" baseline="-25000" dirty="0" err="1" smtClean="0"/>
              <a:t>n</a:t>
            </a:r>
            <a:r>
              <a:rPr lang="en-GB" dirty="0" smtClean="0"/>
              <a:t> = v of vertices such that </a:t>
            </a:r>
            <a:r>
              <a:rPr lang="en-GB" dirty="0" err="1" smtClean="0"/>
              <a:t>e</a:t>
            </a:r>
            <a:r>
              <a:rPr lang="en-GB" baseline="-25000" dirty="0" err="1" smtClean="0"/>
              <a:t>i</a:t>
            </a:r>
            <a:r>
              <a:rPr lang="en-GB" dirty="0" smtClean="0"/>
              <a:t> has the endpoints x</a:t>
            </a:r>
            <a:r>
              <a:rPr lang="en-GB" baseline="-25000" dirty="0" smtClean="0"/>
              <a:t>i-1</a:t>
            </a:r>
            <a:r>
              <a:rPr lang="en-GB" dirty="0"/>
              <a:t> </a:t>
            </a:r>
            <a:r>
              <a:rPr lang="en-GB" dirty="0" smtClean="0"/>
              <a:t>and x</a:t>
            </a:r>
            <a:r>
              <a:rPr lang="en-GB" baseline="-25000" dirty="0" smtClean="0"/>
              <a:t>i </a:t>
            </a:r>
            <a:r>
              <a:rPr lang="en-GB" dirty="0" smtClean="0"/>
              <a:t>, for i = 1, . . . , n</a:t>
            </a:r>
            <a:r>
              <a:rPr lang="en-GB" dirty="0" smtClean="0"/>
              <a:t>.</a:t>
            </a:r>
          </a:p>
          <a:p>
            <a:r>
              <a:rPr lang="en-GB" dirty="0" smtClean="0"/>
              <a:t>When the graph is simple, we denote this path by its vertex sequence x</a:t>
            </a:r>
            <a:r>
              <a:rPr lang="en-GB" baseline="-25000" dirty="0" smtClean="0"/>
              <a:t>0</a:t>
            </a:r>
            <a:r>
              <a:rPr lang="en-GB" dirty="0" smtClean="0"/>
              <a:t>, x</a:t>
            </a:r>
            <a:r>
              <a:rPr lang="en-GB" baseline="-25000" dirty="0" smtClean="0"/>
              <a:t>1</a:t>
            </a:r>
            <a:r>
              <a:rPr lang="en-GB" dirty="0" smtClean="0"/>
              <a:t>, . . . , </a:t>
            </a:r>
            <a:r>
              <a:rPr lang="en-GB" dirty="0" err="1" smtClean="0"/>
              <a:t>x</a:t>
            </a:r>
            <a:r>
              <a:rPr lang="en-GB" baseline="-25000" dirty="0" err="1" smtClean="0"/>
              <a:t>n</a:t>
            </a:r>
            <a:r>
              <a:rPr lang="en-GB" baseline="-25000" dirty="0" smtClean="0"/>
              <a:t>.</a:t>
            </a:r>
          </a:p>
          <a:p>
            <a:r>
              <a:rPr lang="en-GB" dirty="0" smtClean="0"/>
              <a:t>The path is a circuit if it begins and ends at the same vertex, that is, if u = v, and has length greater than zero.</a:t>
            </a:r>
          </a:p>
          <a:p>
            <a:r>
              <a:rPr lang="en-GB" dirty="0" smtClean="0"/>
              <a:t>A path or circuit is simple if it does not contain the same edge more than once.</a:t>
            </a:r>
          </a:p>
          <a:p>
            <a:r>
              <a:rPr lang="en-GB" dirty="0" smtClean="0"/>
              <a:t>In some books, path is termed as walk, circuit as closed walk, and simple path as trial.</a:t>
            </a:r>
            <a:endParaRPr lang="en-IN" dirty="0"/>
          </a:p>
        </p:txBody>
      </p:sp>
    </p:spTree>
    <p:extLst>
      <p:ext uri="{BB962C8B-B14F-4D97-AF65-F5344CB8AC3E}">
        <p14:creationId xmlns:p14="http://schemas.microsoft.com/office/powerpoint/2010/main" val="1206568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IN" dirty="0"/>
          </a:p>
        </p:txBody>
      </p:sp>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3848" y="1628800"/>
            <a:ext cx="2353003" cy="1476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827584" y="3429000"/>
            <a:ext cx="7344816" cy="2308324"/>
          </a:xfrm>
          <a:prstGeom prst="rect">
            <a:avLst/>
          </a:prstGeom>
        </p:spPr>
        <p:txBody>
          <a:bodyPr wrap="square">
            <a:spAutoFit/>
          </a:bodyPr>
          <a:lstStyle/>
          <a:p>
            <a:r>
              <a:rPr lang="en-GB" dirty="0" smtClean="0"/>
              <a:t>In the simple graph shown in above Figure,</a:t>
            </a:r>
          </a:p>
          <a:p>
            <a:pPr marL="285750" indent="-285750">
              <a:buFont typeface="Arial" pitchFamily="34" charset="0"/>
              <a:buChar char="•"/>
            </a:pPr>
            <a:r>
              <a:rPr lang="en-GB" dirty="0" smtClean="0"/>
              <a:t>a, d, c, f , e is a simple path of length 4, because {a, d}, {d, c}, {c, f }, and {f, e} are all edges. </a:t>
            </a:r>
          </a:p>
          <a:p>
            <a:pPr marL="285750" indent="-285750">
              <a:buFont typeface="Arial" pitchFamily="34" charset="0"/>
              <a:buChar char="•"/>
            </a:pPr>
            <a:r>
              <a:rPr lang="en-GB" dirty="0" smtClean="0"/>
              <a:t>d, e, c, a is not a path, because {e, c} is not an edge. </a:t>
            </a:r>
          </a:p>
          <a:p>
            <a:pPr marL="285750" indent="-285750">
              <a:buFont typeface="Arial" pitchFamily="34" charset="0"/>
              <a:buChar char="•"/>
            </a:pPr>
            <a:r>
              <a:rPr lang="en-GB" dirty="0" smtClean="0"/>
              <a:t>b, c, f , e, b is a circuit of length 4 because {b, c}, {c, f }, {f, e}, and {e, b} are</a:t>
            </a:r>
          </a:p>
          <a:p>
            <a:pPr lvl="1"/>
            <a:r>
              <a:rPr lang="en-GB" dirty="0" smtClean="0"/>
              <a:t>edges, and this path begins and ends at b. </a:t>
            </a:r>
          </a:p>
          <a:p>
            <a:pPr marL="285750" indent="-285750">
              <a:buFont typeface="Arial" pitchFamily="34" charset="0"/>
              <a:buChar char="•"/>
            </a:pPr>
            <a:r>
              <a:rPr lang="en-GB" dirty="0" smtClean="0"/>
              <a:t>The path a, b, e, d, a, b, which is of length 5, is not simple because it contains the edge {a, b} twice.</a:t>
            </a:r>
            <a:endParaRPr lang="en-IN" dirty="0"/>
          </a:p>
        </p:txBody>
      </p:sp>
    </p:spTree>
    <p:extLst>
      <p:ext uri="{BB962C8B-B14F-4D97-AF65-F5344CB8AC3E}">
        <p14:creationId xmlns:p14="http://schemas.microsoft.com/office/powerpoint/2010/main" val="966026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Connected Graph</a:t>
            </a:r>
            <a:endParaRPr lang="en-IN" dirty="0"/>
          </a:p>
        </p:txBody>
      </p:sp>
      <p:sp>
        <p:nvSpPr>
          <p:cNvPr id="3" name="Content Placeholder 2"/>
          <p:cNvSpPr>
            <a:spLocks noGrp="1"/>
          </p:cNvSpPr>
          <p:nvPr>
            <p:ph idx="1"/>
          </p:nvPr>
        </p:nvSpPr>
        <p:spPr/>
        <p:txBody>
          <a:bodyPr>
            <a:normAutofit/>
          </a:bodyPr>
          <a:lstStyle/>
          <a:p>
            <a:r>
              <a:rPr lang="en-GB" sz="2400" dirty="0" smtClean="0"/>
              <a:t>An undirected graph is called connected if there is a path between every pair of distinct vertices of the graph. </a:t>
            </a:r>
          </a:p>
          <a:p>
            <a:r>
              <a:rPr lang="en-GB" sz="2400" dirty="0" smtClean="0"/>
              <a:t>An undirected graph that is not connected is called disconnected.</a:t>
            </a:r>
          </a:p>
          <a:p>
            <a:r>
              <a:rPr lang="en-GB" sz="2400" dirty="0" smtClean="0"/>
              <a:t>In the following figure, the graph G</a:t>
            </a:r>
            <a:r>
              <a:rPr lang="en-GB" sz="2400" baseline="-25000" dirty="0" smtClean="0"/>
              <a:t>1</a:t>
            </a:r>
            <a:r>
              <a:rPr lang="en-GB" sz="2400" dirty="0" smtClean="0"/>
              <a:t> is connected and G</a:t>
            </a:r>
            <a:r>
              <a:rPr lang="en-GB" sz="2400" baseline="-25000" dirty="0" smtClean="0"/>
              <a:t>2</a:t>
            </a:r>
            <a:r>
              <a:rPr lang="en-GB" sz="2400" dirty="0" smtClean="0"/>
              <a:t> is disconnected.</a:t>
            </a:r>
            <a:endParaRPr lang="en-IN" sz="2400"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4077072"/>
            <a:ext cx="329565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4528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Connectedness in Directed Graphs</a:t>
            </a:r>
            <a:endParaRPr lang="en-IN" dirty="0"/>
          </a:p>
        </p:txBody>
      </p:sp>
      <p:sp>
        <p:nvSpPr>
          <p:cNvPr id="3" name="Content Placeholder 2"/>
          <p:cNvSpPr>
            <a:spLocks noGrp="1"/>
          </p:cNvSpPr>
          <p:nvPr>
            <p:ph idx="1"/>
          </p:nvPr>
        </p:nvSpPr>
        <p:spPr/>
        <p:txBody>
          <a:bodyPr>
            <a:normAutofit/>
          </a:bodyPr>
          <a:lstStyle/>
          <a:p>
            <a:r>
              <a:rPr lang="en-GB" sz="2400" dirty="0" smtClean="0"/>
              <a:t>A directed graph is </a:t>
            </a:r>
            <a:r>
              <a:rPr lang="en-GB" sz="2400" dirty="0" smtClean="0">
                <a:solidFill>
                  <a:srgbClr val="FF0000"/>
                </a:solidFill>
              </a:rPr>
              <a:t>strongly connected </a:t>
            </a:r>
            <a:r>
              <a:rPr lang="en-GB" sz="2400" dirty="0" smtClean="0"/>
              <a:t>if there is a path from a to b and from b to a whenever a and b are vertices in the graph.</a:t>
            </a:r>
          </a:p>
          <a:p>
            <a:r>
              <a:rPr lang="en-GB" sz="2400" dirty="0" smtClean="0"/>
              <a:t>A directed graph is </a:t>
            </a:r>
            <a:r>
              <a:rPr lang="en-GB" sz="2400" dirty="0" smtClean="0">
                <a:solidFill>
                  <a:srgbClr val="FF0000"/>
                </a:solidFill>
              </a:rPr>
              <a:t>weakly connected </a:t>
            </a:r>
            <a:r>
              <a:rPr lang="en-GB" sz="2400" dirty="0" smtClean="0"/>
              <a:t>if there is a path between every two vertices in the underlying undirected graph.</a:t>
            </a:r>
          </a:p>
          <a:p>
            <a:r>
              <a:rPr lang="en-GB" sz="2400" dirty="0" smtClean="0"/>
              <a:t>In the following graphs, G is strongly connected as well as weakly connected but H is only weakly connected.</a:t>
            </a:r>
          </a:p>
          <a:p>
            <a:endParaRPr lang="en-IN" sz="2400" dirty="0"/>
          </a:p>
        </p:txBody>
      </p:sp>
      <p:pic>
        <p:nvPicPr>
          <p:cNvPr id="24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4941168"/>
            <a:ext cx="31527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1205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Euler Graph</a:t>
            </a:r>
            <a:endParaRPr lang="en-IN" dirty="0"/>
          </a:p>
        </p:txBody>
      </p:sp>
      <p:sp>
        <p:nvSpPr>
          <p:cNvPr id="3" name="Content Placeholder 2"/>
          <p:cNvSpPr>
            <a:spLocks noGrp="1"/>
          </p:cNvSpPr>
          <p:nvPr>
            <p:ph idx="1"/>
          </p:nvPr>
        </p:nvSpPr>
        <p:spPr/>
        <p:txBody>
          <a:bodyPr>
            <a:normAutofit/>
          </a:bodyPr>
          <a:lstStyle/>
          <a:p>
            <a:r>
              <a:rPr lang="en-GB" sz="2400" dirty="0" smtClean="0"/>
              <a:t>An </a:t>
            </a:r>
            <a:r>
              <a:rPr lang="en-GB" sz="2400" dirty="0" smtClean="0">
                <a:solidFill>
                  <a:srgbClr val="FF0000"/>
                </a:solidFill>
              </a:rPr>
              <a:t>Euler circuit </a:t>
            </a:r>
            <a:r>
              <a:rPr lang="en-GB" sz="2400" dirty="0" smtClean="0"/>
              <a:t>in a graph G is a simple circuit containing every edge of G. </a:t>
            </a:r>
          </a:p>
          <a:p>
            <a:r>
              <a:rPr lang="en-GB" sz="2400" dirty="0" smtClean="0"/>
              <a:t>An </a:t>
            </a:r>
            <a:r>
              <a:rPr lang="en-GB" sz="2400" dirty="0" smtClean="0">
                <a:solidFill>
                  <a:srgbClr val="FF0000"/>
                </a:solidFill>
              </a:rPr>
              <a:t>Euler path </a:t>
            </a:r>
            <a:r>
              <a:rPr lang="en-GB" sz="2400" dirty="0" smtClean="0"/>
              <a:t>in G is a simple path containing every edge of G.</a:t>
            </a:r>
            <a:endParaRPr lang="en-IN" sz="2400"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2058" y="3068960"/>
            <a:ext cx="4429125"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5013176"/>
            <a:ext cx="675481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5575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Euler Graph</a:t>
            </a:r>
            <a:endParaRPr lang="en-IN" dirty="0"/>
          </a:p>
        </p:txBody>
      </p:sp>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760" y="1628800"/>
            <a:ext cx="4315427" cy="2105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5654" y="4437112"/>
            <a:ext cx="6735763"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1023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dirty="0" smtClean="0"/>
              <a:t>Hamilton Graph</a:t>
            </a:r>
            <a:endParaRPr lang="en-IN" sz="3200" dirty="0"/>
          </a:p>
        </p:txBody>
      </p:sp>
      <p:sp>
        <p:nvSpPr>
          <p:cNvPr id="3" name="Content Placeholder 2"/>
          <p:cNvSpPr>
            <a:spLocks noGrp="1"/>
          </p:cNvSpPr>
          <p:nvPr>
            <p:ph idx="1"/>
          </p:nvPr>
        </p:nvSpPr>
        <p:spPr>
          <a:xfrm>
            <a:off x="457200" y="1124744"/>
            <a:ext cx="8229600" cy="5001419"/>
          </a:xfrm>
        </p:spPr>
        <p:txBody>
          <a:bodyPr>
            <a:normAutofit/>
          </a:bodyPr>
          <a:lstStyle/>
          <a:p>
            <a:r>
              <a:rPr lang="en-GB" sz="2000" dirty="0" smtClean="0"/>
              <a:t>A simple path in a graph G that passes through every vertex exactly once is called a </a:t>
            </a:r>
            <a:r>
              <a:rPr lang="en-GB" sz="2000" dirty="0" smtClean="0">
                <a:solidFill>
                  <a:srgbClr val="FF0000"/>
                </a:solidFill>
              </a:rPr>
              <a:t>Hamilton path</a:t>
            </a:r>
            <a:r>
              <a:rPr lang="en-GB" sz="2000" dirty="0" smtClean="0"/>
              <a:t>.</a:t>
            </a:r>
          </a:p>
          <a:p>
            <a:r>
              <a:rPr lang="en-GB" sz="2000" dirty="0"/>
              <a:t>A</a:t>
            </a:r>
            <a:r>
              <a:rPr lang="en-GB" sz="2000" dirty="0" smtClean="0"/>
              <a:t> simple circuit in a graph G that passes through every vertex exactly once is called a </a:t>
            </a:r>
            <a:r>
              <a:rPr lang="en-GB" sz="2000" dirty="0" smtClean="0">
                <a:solidFill>
                  <a:srgbClr val="FF0000"/>
                </a:solidFill>
              </a:rPr>
              <a:t>Hamilton circuit.</a:t>
            </a:r>
            <a:endParaRPr lang="en-IN" sz="2000" dirty="0">
              <a:solidFill>
                <a:srgbClr val="FF0000"/>
              </a:solidFill>
            </a:endParaRP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652" y="2636912"/>
            <a:ext cx="6821487"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5898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smtClean="0"/>
              <a:t>Example</a:t>
            </a:r>
            <a:endParaRPr lang="en-IN" dirty="0"/>
          </a:p>
        </p:txBody>
      </p:sp>
      <p:sp>
        <p:nvSpPr>
          <p:cNvPr id="4" name="Rectangle 3"/>
          <p:cNvSpPr/>
          <p:nvPr/>
        </p:nvSpPr>
        <p:spPr>
          <a:xfrm>
            <a:off x="1403648" y="3212976"/>
            <a:ext cx="6768752" cy="2308324"/>
          </a:xfrm>
          <a:prstGeom prst="rect">
            <a:avLst/>
          </a:prstGeom>
        </p:spPr>
        <p:txBody>
          <a:bodyPr wrap="square">
            <a:spAutoFit/>
          </a:bodyPr>
          <a:lstStyle/>
          <a:p>
            <a:r>
              <a:rPr lang="en-GB" dirty="0" smtClean="0"/>
              <a:t>There is no Hamilton circuit in G because G has a vertex of degree one, namely, e.</a:t>
            </a:r>
          </a:p>
          <a:p>
            <a:r>
              <a:rPr lang="en-GB" dirty="0" smtClean="0"/>
              <a:t>Now consider H. Because the degrees of the vertices a, b, d, and e are all two, every edge incident with these vertices must be part of any Hamilton circuit. </a:t>
            </a:r>
          </a:p>
          <a:p>
            <a:r>
              <a:rPr lang="en-GB" dirty="0" smtClean="0"/>
              <a:t>It is now easy to see that no Hamilton circuit can exist in H, for any Hamilton circuit would have to contain four edges incident with c, which is impossible.</a:t>
            </a:r>
            <a:endParaRPr lang="en-IN" dirty="0"/>
          </a:p>
        </p:txBody>
      </p:sp>
      <p:sp>
        <p:nvSpPr>
          <p:cNvPr id="5" name="Content Placeholder 4"/>
          <p:cNvSpPr>
            <a:spLocks noGrp="1"/>
          </p:cNvSpPr>
          <p:nvPr>
            <p:ph idx="1"/>
          </p:nvPr>
        </p:nvSpPr>
        <p:spPr/>
        <p:txBody>
          <a:bodyPr/>
          <a:lstStyle/>
          <a:p>
            <a:r>
              <a:rPr lang="en-GB" dirty="0" smtClean="0"/>
              <a:t> </a:t>
            </a:r>
            <a:endParaRPr lang="en-IN" dirty="0"/>
          </a:p>
        </p:txBody>
      </p:sp>
      <p:pic>
        <p:nvPicPr>
          <p:cNvPr id="286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174" y="1052736"/>
            <a:ext cx="521970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13955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IN" dirty="0"/>
          </a:p>
        </p:txBody>
      </p:sp>
      <p:sp>
        <p:nvSpPr>
          <p:cNvPr id="3" name="Content Placeholder 2"/>
          <p:cNvSpPr>
            <a:spLocks noGrp="1"/>
          </p:cNvSpPr>
          <p:nvPr>
            <p:ph idx="1"/>
          </p:nvPr>
        </p:nvSpPr>
        <p:spPr/>
        <p:txBody>
          <a:bodyPr>
            <a:normAutofit fontScale="92500" lnSpcReduction="10000"/>
          </a:bodyPr>
          <a:lstStyle/>
          <a:p>
            <a:r>
              <a:rPr lang="en-GB" dirty="0" smtClean="0"/>
              <a:t>Show that </a:t>
            </a:r>
            <a:r>
              <a:rPr lang="en-GB" dirty="0" err="1" smtClean="0"/>
              <a:t>K</a:t>
            </a:r>
            <a:r>
              <a:rPr lang="en-GB" baseline="-25000" dirty="0" err="1" smtClean="0"/>
              <a:t>n</a:t>
            </a:r>
            <a:r>
              <a:rPr lang="en-GB" dirty="0" smtClean="0"/>
              <a:t> has a Hamilton circuit whenever n ≥ 3.</a:t>
            </a:r>
          </a:p>
          <a:p>
            <a:r>
              <a:rPr lang="en-GB" dirty="0" smtClean="0">
                <a:solidFill>
                  <a:srgbClr val="FF0000"/>
                </a:solidFill>
              </a:rPr>
              <a:t>Solution: </a:t>
            </a:r>
          </a:p>
          <a:p>
            <a:pPr lvl="1"/>
            <a:r>
              <a:rPr lang="en-GB" dirty="0" smtClean="0"/>
              <a:t>We can form a Hamilton circuit in </a:t>
            </a:r>
            <a:r>
              <a:rPr lang="en-GB" dirty="0" err="1" smtClean="0"/>
              <a:t>K</a:t>
            </a:r>
            <a:r>
              <a:rPr lang="en-GB" baseline="-25000" dirty="0" err="1" smtClean="0"/>
              <a:t>n</a:t>
            </a:r>
            <a:r>
              <a:rPr lang="en-GB" dirty="0" smtClean="0"/>
              <a:t> beginning at any vertex. </a:t>
            </a:r>
          </a:p>
          <a:p>
            <a:pPr lvl="1"/>
            <a:r>
              <a:rPr lang="en-GB" dirty="0" smtClean="0"/>
              <a:t>Such a circuit can be built by visiting vertices in any order we choose, as long as the path begins and ends at the same vertex and visits each other vertex exactly once. </a:t>
            </a:r>
          </a:p>
          <a:p>
            <a:pPr lvl="1"/>
            <a:r>
              <a:rPr lang="en-GB" dirty="0" smtClean="0"/>
              <a:t>This is possible because there are edges in </a:t>
            </a:r>
            <a:r>
              <a:rPr lang="en-GB" dirty="0" err="1" smtClean="0"/>
              <a:t>K</a:t>
            </a:r>
            <a:r>
              <a:rPr lang="en-GB" baseline="-25000" dirty="0" err="1" smtClean="0"/>
              <a:t>n</a:t>
            </a:r>
            <a:r>
              <a:rPr lang="en-GB" dirty="0" smtClean="0"/>
              <a:t> between any two vertices.</a:t>
            </a:r>
            <a:endParaRPr lang="en-IN" dirty="0"/>
          </a:p>
        </p:txBody>
      </p:sp>
    </p:spTree>
    <p:extLst>
      <p:ext uri="{BB962C8B-B14F-4D97-AF65-F5344CB8AC3E}">
        <p14:creationId xmlns:p14="http://schemas.microsoft.com/office/powerpoint/2010/main" val="2908572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4399</TotalTime>
  <Words>3013</Words>
  <Application>Microsoft Office PowerPoint</Application>
  <PresentationFormat>On-screen Show (4:3)</PresentationFormat>
  <Paragraphs>181</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Lec29</vt:lpstr>
      <vt:lpstr>Graph</vt:lpstr>
      <vt:lpstr>Example</vt:lpstr>
      <vt:lpstr>Properties</vt:lpstr>
      <vt:lpstr>Figure 1 is Simple Graph, Figure 2 is multi-graph, and Figure 3 is pseudo-graph.</vt:lpstr>
      <vt:lpstr> </vt:lpstr>
      <vt:lpstr> </vt:lpstr>
      <vt:lpstr>Graph Terminology and Special Types of Graphs</vt:lpstr>
      <vt:lpstr>Examples</vt:lpstr>
      <vt:lpstr>Handshaking Theorem</vt:lpstr>
      <vt:lpstr>Theorem: An undirected graph has an even number of vertices of odd degree. </vt:lpstr>
      <vt:lpstr>Average and Maximum Number of Edges</vt:lpstr>
      <vt:lpstr>Terminology for undirected graphs: </vt:lpstr>
      <vt:lpstr>Degree of Vertex in Directed Graph</vt:lpstr>
      <vt:lpstr>Example</vt:lpstr>
      <vt:lpstr>Result</vt:lpstr>
      <vt:lpstr>Some Special Simple Graphs </vt:lpstr>
      <vt:lpstr>Cycle</vt:lpstr>
      <vt:lpstr>Bipartite Graph</vt:lpstr>
      <vt:lpstr>K3 is not bipartite</vt:lpstr>
      <vt:lpstr>Which graph is bipartite?</vt:lpstr>
      <vt:lpstr>Complete Bipartite Graphs</vt:lpstr>
      <vt:lpstr>Regular Graph</vt:lpstr>
      <vt:lpstr>Regular Graph</vt:lpstr>
      <vt:lpstr>Handshaking Theorem for Bipartite Graphs</vt:lpstr>
      <vt:lpstr>Representation of Graphs</vt:lpstr>
      <vt:lpstr>Representation of Graphs</vt:lpstr>
      <vt:lpstr>Adjacency Matrices</vt:lpstr>
      <vt:lpstr>Adjacency matrices</vt:lpstr>
      <vt:lpstr>Adjacency Matrices for Simple Graphs</vt:lpstr>
      <vt:lpstr>Adjacency Matrix for Multi-graphs</vt:lpstr>
      <vt:lpstr>Adjacency Matrix for Directed Graph</vt:lpstr>
      <vt:lpstr>Adjacency Matrix for Directed Graph</vt:lpstr>
      <vt:lpstr>Incidence Matrix</vt:lpstr>
      <vt:lpstr>Incidence Matrix for Multi-graph and Pseudo-graph</vt:lpstr>
      <vt:lpstr> </vt:lpstr>
      <vt:lpstr>Path</vt:lpstr>
      <vt:lpstr>Example</vt:lpstr>
      <vt:lpstr>Connected Graph</vt:lpstr>
      <vt:lpstr>Connectedness in Directed Graphs</vt:lpstr>
      <vt:lpstr>Euler Graph</vt:lpstr>
      <vt:lpstr>Euler Graph</vt:lpstr>
      <vt:lpstr>Hamilton Graph</vt:lpstr>
      <vt:lpstr>Example</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Lec29</dc:title>
  <dc:creator>DELL</dc:creator>
  <cp:lastModifiedBy>DELL</cp:lastModifiedBy>
  <cp:revision>38</cp:revision>
  <dcterms:created xsi:type="dcterms:W3CDTF">2024-04-11T07:22:14Z</dcterms:created>
  <dcterms:modified xsi:type="dcterms:W3CDTF">2024-04-14T08:41:42Z</dcterms:modified>
</cp:coreProperties>
</file>